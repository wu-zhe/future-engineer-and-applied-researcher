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143000"/>
            <a:ext cx="6263640" cy="1417320"/>
          </a:xfrm>
          <a:prstGeom prst="rect">
            <a:avLst/>
          </a:prstGeom>
          <a:noFill/>
          <a:ln/>
        </p:spPr>
        <p:txBody>
          <a:bodyPr wrap="square" lIns="0" tIns="0" rIns="0" bIns="0" rtlCol="0" anchor="ctr">
            <a:normAutofit/>
          </a:bodyPr>
          <a:lstStyle/>
          <a:p>
            <a:pPr indent="0" marL="0">
              <a:buNone/>
            </a:pPr>
            <a:r>
              <a:rPr lang="en-US" sz="4400" b="1" dirty="0">
                <a:solidFill>
                  <a:srgbClr val="162033"/>
                </a:solidFill>
                <a:latin typeface="Aptos Display" pitchFamily="34" charset="0"/>
                <a:ea typeface="Aptos Display" pitchFamily="34" charset="-122"/>
                <a:cs typeface="Aptos Display" pitchFamily="34" charset="-120"/>
              </a:rPr>
              <a:t>Future Software Engineer</a:t>
            </a:r>
            <a:endParaRPr lang="en-US" sz="4400" dirty="0"/>
          </a:p>
          <a:p>
            <a:pPr indent="0" marL="0">
              <a:buNone/>
            </a:pPr>
            <a:r>
              <a:rPr lang="en-US" sz="4400" b="1" dirty="0">
                <a:solidFill>
                  <a:srgbClr val="162033"/>
                </a:solidFill>
                <a:latin typeface="Aptos Display" pitchFamily="34" charset="0"/>
                <a:ea typeface="Aptos Display" pitchFamily="34" charset="-122"/>
                <a:cs typeface="Aptos Display" pitchFamily="34" charset="-120"/>
              </a:rPr>
              <a:t>&amp; Applied Researcher</a:t>
            </a:r>
            <a:endParaRPr lang="en-US" sz="4400" dirty="0"/>
          </a:p>
        </p:txBody>
      </p:sp>
      <p:sp>
        <p:nvSpPr>
          <p:cNvPr id="3" name="Text 1"/>
          <p:cNvSpPr/>
          <p:nvPr/>
        </p:nvSpPr>
        <p:spPr>
          <a:xfrm>
            <a:off x="731520" y="2743200"/>
            <a:ext cx="5852160" cy="320040"/>
          </a:xfrm>
          <a:prstGeom prst="rect">
            <a:avLst/>
          </a:prstGeom>
          <a:noFill/>
          <a:ln/>
        </p:spPr>
        <p:txBody>
          <a:bodyPr wrap="square" lIns="0" tIns="0" rIns="0" bIns="0" rtlCol="0" anchor="ctr"/>
          <a:lstStyle/>
          <a:p>
            <a:pPr indent="0" marL="0">
              <a:buNone/>
            </a:pPr>
            <a:r>
              <a:rPr lang="en-US" sz="1800" dirty="0">
                <a:solidFill>
                  <a:srgbClr val="5D6B82"/>
                </a:solidFill>
              </a:rPr>
              <a:t>A simple career framework for an AI-agent and loop-engineering era</a:t>
            </a:r>
            <a:endParaRPr lang="en-US" sz="1800" dirty="0"/>
          </a:p>
        </p:txBody>
      </p:sp>
      <p:sp>
        <p:nvSpPr>
          <p:cNvPr id="4" name="Text 2"/>
          <p:cNvSpPr/>
          <p:nvPr/>
        </p:nvSpPr>
        <p:spPr>
          <a:xfrm>
            <a:off x="7315200" y="822960"/>
            <a:ext cx="1627632" cy="384048"/>
          </a:xfrm>
          <a:prstGeom prst="rect">
            <a:avLst/>
          </a:prstGeom>
          <a:solidFill>
            <a:srgbClr val="EEF4FF"/>
          </a:solidFill>
          <a:ln w="13970">
            <a:solidFill>
              <a:srgbClr val="2E6BFF"/>
            </a:solidFill>
          </a:ln>
        </p:spPr>
        <p:txBody>
          <a:bodyPr wrap="square" lIns="508" tIns="508" rIns="508" bIns="508" rtlCol="0" anchor="ctr"/>
          <a:lstStyle/>
          <a:p>
            <a:pPr algn="ctr" indent="0" marL="0">
              <a:buNone/>
            </a:pPr>
            <a:r>
              <a:rPr lang="en-US" sz="1200" b="1" dirty="0">
                <a:solidFill>
                  <a:srgbClr val="2E6BFF"/>
                </a:solidFill>
              </a:rPr>
              <a:t>KNOW</a:t>
            </a:r>
            <a:endParaRPr lang="en-US" sz="1200" dirty="0"/>
          </a:p>
        </p:txBody>
      </p:sp>
      <p:sp>
        <p:nvSpPr>
          <p:cNvPr id="5" name="Shape 3"/>
          <p:cNvSpPr/>
          <p:nvPr/>
        </p:nvSpPr>
        <p:spPr>
          <a:xfrm>
            <a:off x="8138160" y="1261872"/>
            <a:ext cx="0" cy="246888"/>
          </a:xfrm>
          <a:prstGeom prst="line">
            <a:avLst/>
          </a:prstGeom>
          <a:noFill/>
          <a:ln w="17780">
            <a:solidFill>
              <a:srgbClr val="9AA6B2"/>
            </a:solidFill>
            <a:prstDash val="solid"/>
            <a:headEnd type="none"/>
            <a:tailEnd type="triangle"/>
          </a:ln>
        </p:spPr>
      </p:sp>
      <p:sp>
        <p:nvSpPr>
          <p:cNvPr id="6" name="Text 4"/>
          <p:cNvSpPr/>
          <p:nvPr/>
        </p:nvSpPr>
        <p:spPr>
          <a:xfrm>
            <a:off x="9189720" y="1600200"/>
            <a:ext cx="1627632" cy="384048"/>
          </a:xfrm>
          <a:prstGeom prst="rect">
            <a:avLst/>
          </a:prstGeom>
          <a:solidFill>
            <a:srgbClr val="ECFBFA"/>
          </a:solidFill>
          <a:ln w="13970">
            <a:solidFill>
              <a:srgbClr val="00A9A5"/>
            </a:solidFill>
          </a:ln>
        </p:spPr>
        <p:txBody>
          <a:bodyPr wrap="square" lIns="508" tIns="508" rIns="508" bIns="508" rtlCol="0" anchor="ctr"/>
          <a:lstStyle/>
          <a:p>
            <a:pPr algn="ctr" indent="0" marL="0">
              <a:buNone/>
            </a:pPr>
            <a:r>
              <a:rPr lang="en-US" sz="1200" b="1" dirty="0">
                <a:solidFill>
                  <a:srgbClr val="00A9A5"/>
                </a:solidFill>
              </a:rPr>
              <a:t>VERIFY</a:t>
            </a:r>
            <a:endParaRPr lang="en-US" sz="1200" dirty="0"/>
          </a:p>
        </p:txBody>
      </p:sp>
      <p:sp>
        <p:nvSpPr>
          <p:cNvPr id="7" name="Shape 5"/>
          <p:cNvSpPr/>
          <p:nvPr/>
        </p:nvSpPr>
        <p:spPr>
          <a:xfrm>
            <a:off x="10012680" y="2039112"/>
            <a:ext cx="0" cy="246888"/>
          </a:xfrm>
          <a:prstGeom prst="line">
            <a:avLst/>
          </a:prstGeom>
          <a:noFill/>
          <a:ln w="17780">
            <a:solidFill>
              <a:srgbClr val="9AA6B2"/>
            </a:solidFill>
            <a:prstDash val="solid"/>
            <a:headEnd type="none"/>
            <a:tailEnd type="triangle"/>
          </a:ln>
        </p:spPr>
      </p:sp>
      <p:sp>
        <p:nvSpPr>
          <p:cNvPr id="8" name="Text 6"/>
          <p:cNvSpPr/>
          <p:nvPr/>
        </p:nvSpPr>
        <p:spPr>
          <a:xfrm>
            <a:off x="7315200" y="2377440"/>
            <a:ext cx="1627632" cy="384048"/>
          </a:xfrm>
          <a:prstGeom prst="rect">
            <a:avLst/>
          </a:prstGeom>
          <a:solidFill>
            <a:srgbClr val="F4F0FF"/>
          </a:solidFill>
          <a:ln w="13970">
            <a:solidFill>
              <a:srgbClr val="7B61FF"/>
            </a:solidFill>
          </a:ln>
        </p:spPr>
        <p:txBody>
          <a:bodyPr wrap="square" lIns="508" tIns="508" rIns="508" bIns="508" rtlCol="0" anchor="ctr"/>
          <a:lstStyle/>
          <a:p>
            <a:pPr algn="ctr" indent="0" marL="0">
              <a:buNone/>
            </a:pPr>
            <a:r>
              <a:rPr lang="en-US" sz="1200" b="1" dirty="0">
                <a:solidFill>
                  <a:srgbClr val="7B61FF"/>
                </a:solidFill>
              </a:rPr>
              <a:t>DESIGN</a:t>
            </a:r>
            <a:endParaRPr lang="en-US" sz="1200" dirty="0"/>
          </a:p>
        </p:txBody>
      </p:sp>
      <p:sp>
        <p:nvSpPr>
          <p:cNvPr id="9" name="Shape 7"/>
          <p:cNvSpPr/>
          <p:nvPr/>
        </p:nvSpPr>
        <p:spPr>
          <a:xfrm>
            <a:off x="8138160" y="2816352"/>
            <a:ext cx="0" cy="246888"/>
          </a:xfrm>
          <a:prstGeom prst="line">
            <a:avLst/>
          </a:prstGeom>
          <a:noFill/>
          <a:ln w="17780">
            <a:solidFill>
              <a:srgbClr val="9AA6B2"/>
            </a:solidFill>
            <a:prstDash val="solid"/>
            <a:headEnd type="none"/>
            <a:tailEnd type="triangle"/>
          </a:ln>
        </p:spPr>
      </p:sp>
      <p:sp>
        <p:nvSpPr>
          <p:cNvPr id="10" name="Text 8"/>
          <p:cNvSpPr/>
          <p:nvPr/>
        </p:nvSpPr>
        <p:spPr>
          <a:xfrm>
            <a:off x="9189720" y="3154680"/>
            <a:ext cx="1627632" cy="384048"/>
          </a:xfrm>
          <a:prstGeom prst="rect">
            <a:avLst/>
          </a:prstGeom>
          <a:solidFill>
            <a:srgbClr val="FFF7E8"/>
          </a:solidFill>
          <a:ln w="13970">
            <a:solidFill>
              <a:srgbClr val="F5A623"/>
            </a:solidFill>
          </a:ln>
        </p:spPr>
        <p:txBody>
          <a:bodyPr wrap="square" lIns="508" tIns="508" rIns="508" bIns="508" rtlCol="0" anchor="ctr"/>
          <a:lstStyle/>
          <a:p>
            <a:pPr algn="ctr" indent="0" marL="0">
              <a:buNone/>
            </a:pPr>
            <a:r>
              <a:rPr lang="en-US" sz="1200" b="1" dirty="0">
                <a:solidFill>
                  <a:srgbClr val="F5A623"/>
                </a:solidFill>
              </a:rPr>
              <a:t>CHOOSE</a:t>
            </a:r>
            <a:endParaRPr lang="en-US" sz="1200" dirty="0"/>
          </a:p>
        </p:txBody>
      </p:sp>
      <p:sp>
        <p:nvSpPr>
          <p:cNvPr id="11" name="Shape 9"/>
          <p:cNvSpPr/>
          <p:nvPr/>
        </p:nvSpPr>
        <p:spPr>
          <a:xfrm>
            <a:off x="10012680" y="3593592"/>
            <a:ext cx="0" cy="246888"/>
          </a:xfrm>
          <a:prstGeom prst="line">
            <a:avLst/>
          </a:prstGeom>
          <a:noFill/>
          <a:ln w="17780">
            <a:solidFill>
              <a:srgbClr val="9AA6B2"/>
            </a:solidFill>
            <a:prstDash val="solid"/>
            <a:headEnd type="none"/>
            <a:tailEnd type="triangle"/>
          </a:ln>
        </p:spPr>
      </p:sp>
      <p:sp>
        <p:nvSpPr>
          <p:cNvPr id="12" name="Text 10"/>
          <p:cNvSpPr/>
          <p:nvPr/>
        </p:nvSpPr>
        <p:spPr>
          <a:xfrm>
            <a:off x="7315200" y="3931920"/>
            <a:ext cx="1627632" cy="384048"/>
          </a:xfrm>
          <a:prstGeom prst="rect">
            <a:avLst/>
          </a:prstGeom>
          <a:solidFill>
            <a:srgbClr val="FFF0F6"/>
          </a:solidFill>
          <a:ln w="13970">
            <a:solidFill>
              <a:srgbClr val="E55288"/>
            </a:solidFill>
          </a:ln>
        </p:spPr>
        <p:txBody>
          <a:bodyPr wrap="square" lIns="508" tIns="508" rIns="508" bIns="508" rtlCol="0" anchor="ctr"/>
          <a:lstStyle/>
          <a:p>
            <a:pPr algn="ctr" indent="0" marL="0">
              <a:buNone/>
            </a:pPr>
            <a:r>
              <a:rPr lang="en-US" sz="1200" b="1" dirty="0">
                <a:solidFill>
                  <a:srgbClr val="E55288"/>
                </a:solidFill>
              </a:rPr>
              <a:t>SCALE</a:t>
            </a:r>
            <a:endParaRPr lang="en-US" sz="1200" dirty="0"/>
          </a:p>
        </p:txBody>
      </p:sp>
      <p:sp>
        <p:nvSpPr>
          <p:cNvPr id="13" name="Shape 11"/>
          <p:cNvSpPr/>
          <p:nvPr/>
        </p:nvSpPr>
        <p:spPr>
          <a:xfrm>
            <a:off x="8138160" y="4370832"/>
            <a:ext cx="0" cy="246888"/>
          </a:xfrm>
          <a:prstGeom prst="line">
            <a:avLst/>
          </a:prstGeom>
          <a:noFill/>
          <a:ln w="17780">
            <a:solidFill>
              <a:srgbClr val="9AA6B2"/>
            </a:solidFill>
            <a:prstDash val="solid"/>
            <a:headEnd type="none"/>
            <a:tailEnd type="triangle"/>
          </a:ln>
        </p:spPr>
      </p:sp>
      <p:sp>
        <p:nvSpPr>
          <p:cNvPr id="14" name="Text 12"/>
          <p:cNvSpPr/>
          <p:nvPr/>
        </p:nvSpPr>
        <p:spPr>
          <a:xfrm>
            <a:off x="9189720" y="4709160"/>
            <a:ext cx="1627632" cy="384048"/>
          </a:xfrm>
          <a:prstGeom prst="rect">
            <a:avLst/>
          </a:prstGeom>
          <a:solidFill>
            <a:srgbClr val="EFFFF6"/>
          </a:solidFill>
          <a:ln w="13970">
            <a:solidFill>
              <a:srgbClr val="27A96B"/>
            </a:solidFill>
          </a:ln>
        </p:spPr>
        <p:txBody>
          <a:bodyPr wrap="square" lIns="508" tIns="508" rIns="508" bIns="508" rtlCol="0" anchor="ctr"/>
          <a:lstStyle/>
          <a:p>
            <a:pPr algn="ctr" indent="0" marL="0">
              <a:buNone/>
            </a:pPr>
            <a:r>
              <a:rPr lang="en-US" sz="1200" b="1" dirty="0">
                <a:solidFill>
                  <a:srgbClr val="27A96B"/>
                </a:solidFill>
              </a:rPr>
              <a:t>COMMUNICATE</a:t>
            </a:r>
            <a:endParaRPr lang="en-US" sz="1200" dirty="0"/>
          </a:p>
        </p:txBody>
      </p:sp>
      <p:sp>
        <p:nvSpPr>
          <p:cNvPr id="15" name="Text 13"/>
          <p:cNvSpPr/>
          <p:nvPr/>
        </p:nvSpPr>
        <p:spPr>
          <a:xfrm>
            <a:off x="777240" y="4937760"/>
            <a:ext cx="6217920" cy="749808"/>
          </a:xfrm>
          <a:prstGeom prst="rect">
            <a:avLst/>
          </a:prstGeom>
          <a:noFill/>
          <a:ln/>
        </p:spPr>
        <p:txBody>
          <a:bodyPr wrap="square" lIns="0" tIns="0" rIns="0" bIns="0" rtlCol="0" anchor="ctr"/>
          <a:lstStyle/>
          <a:p>
            <a:pPr indent="0" marL="0">
              <a:buNone/>
            </a:pPr>
            <a:r>
              <a:rPr lang="en-US" sz="2200" b="1" dirty="0">
                <a:solidFill>
                  <a:srgbClr val="162033"/>
                </a:solidFill>
              </a:rPr>
              <a:t>Execution gets cheaper.</a:t>
            </a:r>
            <a:endParaRPr lang="en-US" sz="2200" dirty="0"/>
          </a:p>
          <a:p>
            <a:pPr indent="0" marL="0">
              <a:buNone/>
            </a:pPr>
            <a:r>
              <a:rPr lang="en-US" sz="2200" b="1" dirty="0">
                <a:solidFill>
                  <a:srgbClr val="162033"/>
                </a:solidFill>
              </a:rPr>
              <a:t>Judgment, verification, and direction get more valuable.</a:t>
            </a:r>
            <a:endParaRPr lang="en-US" sz="2200" dirty="0"/>
          </a:p>
        </p:txBody>
      </p:sp>
      <p:sp>
        <p:nvSpPr>
          <p:cNvPr id="16" name="Text 14"/>
          <p:cNvSpPr/>
          <p:nvPr/>
        </p:nvSpPr>
        <p:spPr>
          <a:xfrm>
            <a:off x="795528" y="5943600"/>
            <a:ext cx="4297680" cy="228600"/>
          </a:xfrm>
          <a:prstGeom prst="rect">
            <a:avLst/>
          </a:prstGeom>
          <a:noFill/>
          <a:ln/>
        </p:spPr>
        <p:txBody>
          <a:bodyPr wrap="square" lIns="0" tIns="0" rIns="0" bIns="0" rtlCol="0" anchor="ctr"/>
          <a:lstStyle/>
          <a:p>
            <a:pPr indent="0" marL="0">
              <a:buNone/>
            </a:pPr>
            <a:r>
              <a:rPr lang="en-US" sz="1400" b="1" dirty="0">
                <a:solidFill>
                  <a:srgbClr val="2E6BFF"/>
                </a:solidFill>
              </a:rPr>
              <a:t>problem → loop → evidence → decision</a:t>
            </a:r>
            <a:endParaRPr lang="en-US" sz="1400" dirty="0"/>
          </a:p>
        </p:txBody>
      </p:sp>
      <p:sp>
        <p:nvSpPr>
          <p:cNvPr id="17" name="Text 15"/>
          <p:cNvSpPr/>
          <p:nvPr/>
        </p:nvSpPr>
        <p:spPr>
          <a:xfrm>
            <a:off x="594360" y="6556248"/>
            <a:ext cx="4754880" cy="164592"/>
          </a:xfrm>
          <a:prstGeom prst="rect">
            <a:avLst/>
          </a:prstGeom>
          <a:noFill/>
          <a:ln/>
        </p:spPr>
        <p:txBody>
          <a:bodyPr wrap="square" lIns="0" tIns="0" rIns="0" bIns="0" rtlCol="0" anchor="ctr"/>
          <a:lstStyle/>
          <a:p>
            <a:pPr indent="0" marL="0">
              <a:buNone/>
            </a:pPr>
            <a:r>
              <a:rPr lang="en-US" sz="750" dirty="0">
                <a:solidFill>
                  <a:srgbClr val="8A98AA"/>
                </a:solidFill>
              </a:rPr>
              <a:t>Future Engineer &amp; Applied Researcher</a:t>
            </a:r>
            <a:endParaRPr lang="en-US" sz="750" dirty="0"/>
          </a:p>
        </p:txBody>
      </p:sp>
      <p:sp>
        <p:nvSpPr>
          <p:cNvPr id="18" name="Text 16"/>
          <p:cNvSpPr/>
          <p:nvPr/>
        </p:nvSpPr>
        <p:spPr>
          <a:xfrm>
            <a:off x="11201400" y="6556248"/>
            <a:ext cx="384048" cy="164592"/>
          </a:xfrm>
          <a:prstGeom prst="rect">
            <a:avLst/>
          </a:prstGeom>
          <a:noFill/>
          <a:ln/>
        </p:spPr>
        <p:txBody>
          <a:bodyPr wrap="square" lIns="0" tIns="0" rIns="0" bIns="0" rtlCol="0" anchor="ctr"/>
          <a:lstStyle/>
          <a:p>
            <a:pPr algn="r" indent="0" marL="0">
              <a:buNone/>
            </a:pPr>
            <a:r>
              <a:rPr lang="en-US" sz="750" dirty="0">
                <a:solidFill>
                  <a:srgbClr val="8A98AA"/>
                </a:solidFill>
              </a:rPr>
              <a:t>01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20040"/>
            <a:ext cx="8778240" cy="384048"/>
          </a:xfrm>
          <a:prstGeom prst="rect">
            <a:avLst/>
          </a:prstGeom>
          <a:noFill/>
          <a:ln/>
        </p:spPr>
        <p:txBody>
          <a:bodyPr wrap="square" lIns="0" tIns="0" rIns="0" bIns="0" rtlCol="0" anchor="ctr"/>
          <a:lstStyle/>
          <a:p>
            <a:pPr indent="0" marL="0">
              <a:buNone/>
            </a:pPr>
            <a:r>
              <a:rPr lang="en-US" sz="2400" b="1" dirty="0">
                <a:solidFill>
                  <a:srgbClr val="162033"/>
                </a:solidFill>
                <a:latin typeface="Aptos Display" pitchFamily="34" charset="0"/>
                <a:ea typeface="Aptos Display" pitchFamily="34" charset="-122"/>
                <a:cs typeface="Aptos Display" pitchFamily="34" charset="-120"/>
              </a:rPr>
              <a:t>The core shift</a:t>
            </a:r>
            <a:endParaRPr lang="en-US" sz="2400" dirty="0"/>
          </a:p>
        </p:txBody>
      </p:sp>
      <p:sp>
        <p:nvSpPr>
          <p:cNvPr id="3" name="Text 1"/>
          <p:cNvSpPr/>
          <p:nvPr/>
        </p:nvSpPr>
        <p:spPr>
          <a:xfrm>
            <a:off x="612648" y="768096"/>
            <a:ext cx="8138160" cy="228600"/>
          </a:xfrm>
          <a:prstGeom prst="rect">
            <a:avLst/>
          </a:prstGeom>
          <a:noFill/>
          <a:ln/>
        </p:spPr>
        <p:txBody>
          <a:bodyPr wrap="square" lIns="0" tIns="0" rIns="0" bIns="0" rtlCol="0" anchor="ctr"/>
          <a:lstStyle/>
          <a:p>
            <a:pPr indent="0" marL="0">
              <a:buNone/>
            </a:pPr>
            <a:r>
              <a:rPr lang="en-US" sz="950" dirty="0">
                <a:solidFill>
                  <a:srgbClr val="5D6B82"/>
                </a:solidFill>
              </a:rPr>
              <a:t>AI reduces the cost of executing individual tasks; human leverage moves up the stack.</a:t>
            </a:r>
            <a:endParaRPr lang="en-US" sz="950" dirty="0"/>
          </a:p>
        </p:txBody>
      </p:sp>
      <p:sp>
        <p:nvSpPr>
          <p:cNvPr id="4" name="Shape 2"/>
          <p:cNvSpPr/>
          <p:nvPr/>
        </p:nvSpPr>
        <p:spPr>
          <a:xfrm>
            <a:off x="594360" y="1051560"/>
            <a:ext cx="10927080" cy="0"/>
          </a:xfrm>
          <a:prstGeom prst="line">
            <a:avLst/>
          </a:prstGeom>
          <a:noFill/>
          <a:ln w="12700">
            <a:solidFill>
              <a:srgbClr val="D8DEE9"/>
            </a:solidFill>
            <a:prstDash val="solid"/>
          </a:ln>
        </p:spPr>
      </p:sp>
      <p:sp>
        <p:nvSpPr>
          <p:cNvPr id="5" name="Text 3"/>
          <p:cNvSpPr/>
          <p:nvPr/>
        </p:nvSpPr>
        <p:spPr>
          <a:xfrm>
            <a:off x="914400" y="1508760"/>
            <a:ext cx="914400" cy="228600"/>
          </a:xfrm>
          <a:prstGeom prst="rect">
            <a:avLst/>
          </a:prstGeom>
          <a:noFill/>
          <a:ln/>
        </p:spPr>
        <p:txBody>
          <a:bodyPr wrap="square" lIns="0" tIns="0" rIns="0" bIns="0" rtlCol="0" anchor="ctr"/>
          <a:lstStyle/>
          <a:p>
            <a:pPr indent="0" marL="0">
              <a:buNone/>
            </a:pPr>
            <a:r>
              <a:rPr lang="en-US" sz="1200" b="1" dirty="0">
                <a:solidFill>
                  <a:srgbClr val="8A98AA"/>
                </a:solidFill>
              </a:rPr>
              <a:t>FROM</a:t>
            </a:r>
            <a:endParaRPr lang="en-US" sz="1200" dirty="0"/>
          </a:p>
        </p:txBody>
      </p:sp>
      <p:sp>
        <p:nvSpPr>
          <p:cNvPr id="6" name="Text 4"/>
          <p:cNvSpPr/>
          <p:nvPr/>
        </p:nvSpPr>
        <p:spPr>
          <a:xfrm>
            <a:off x="914400" y="1874520"/>
            <a:ext cx="4114800" cy="502920"/>
          </a:xfrm>
          <a:prstGeom prst="rect">
            <a:avLst/>
          </a:prstGeom>
          <a:noFill/>
          <a:ln/>
        </p:spPr>
        <p:txBody>
          <a:bodyPr wrap="square" lIns="0" tIns="0" rIns="0" bIns="0" rtlCol="0" anchor="ctr"/>
          <a:lstStyle/>
          <a:p>
            <a:pPr indent="0" marL="0">
              <a:buNone/>
            </a:pPr>
            <a:r>
              <a:rPr lang="en-US" sz="3000" b="1" dirty="0">
                <a:solidFill>
                  <a:srgbClr val="162033"/>
                </a:solidFill>
              </a:rPr>
              <a:t>Executing tasks</a:t>
            </a:r>
            <a:endParaRPr lang="en-US" sz="3000" dirty="0"/>
          </a:p>
        </p:txBody>
      </p:sp>
      <p:sp>
        <p:nvSpPr>
          <p:cNvPr id="7" name="Text 5"/>
          <p:cNvSpPr/>
          <p:nvPr/>
        </p:nvSpPr>
        <p:spPr>
          <a:xfrm>
            <a:off x="960120" y="2788920"/>
            <a:ext cx="3474720" cy="960120"/>
          </a:xfrm>
          <a:prstGeom prst="rect">
            <a:avLst/>
          </a:prstGeom>
          <a:noFill/>
          <a:ln/>
        </p:spPr>
        <p:txBody>
          <a:bodyPr wrap="square" lIns="0" tIns="0" rIns="0" bIns="0" rtlCol="0" anchor="ctr"/>
          <a:lstStyle/>
          <a:p>
            <a:pPr indent="0" marL="0">
              <a:buNone/>
            </a:pPr>
            <a:r>
              <a:rPr lang="en-US" sz="1800" dirty="0">
                <a:solidFill>
                  <a:srgbClr val="5D6B82"/>
                </a:solidFill>
              </a:rPr>
              <a:t>Code shipped</a:t>
            </a:r>
            <a:endParaRPr lang="en-US" sz="1800" dirty="0"/>
          </a:p>
          <a:p>
            <a:pPr indent="0" marL="0">
              <a:buNone/>
            </a:pPr>
            <a:r>
              <a:rPr lang="en-US" sz="1800" dirty="0">
                <a:solidFill>
                  <a:srgbClr val="5D6B82"/>
                </a:solidFill>
              </a:rPr>
              <a:t>Experiments run</a:t>
            </a:r>
            <a:endParaRPr lang="en-US" sz="1800" dirty="0"/>
          </a:p>
          <a:p>
            <a:pPr indent="0" marL="0">
              <a:buNone/>
            </a:pPr>
            <a:r>
              <a:rPr lang="en-US" sz="1800" dirty="0">
                <a:solidFill>
                  <a:srgbClr val="5D6B82"/>
                </a:solidFill>
              </a:rPr>
              <a:t>Papers implemented</a:t>
            </a:r>
            <a:endParaRPr lang="en-US" sz="1800" dirty="0"/>
          </a:p>
        </p:txBody>
      </p:sp>
      <p:sp>
        <p:nvSpPr>
          <p:cNvPr id="8" name="Shape 6"/>
          <p:cNvSpPr/>
          <p:nvPr/>
        </p:nvSpPr>
        <p:spPr>
          <a:xfrm>
            <a:off x="4800600" y="2880360"/>
            <a:ext cx="2468880" cy="0"/>
          </a:xfrm>
          <a:prstGeom prst="line">
            <a:avLst/>
          </a:prstGeom>
          <a:noFill/>
          <a:ln w="17780">
            <a:solidFill>
              <a:srgbClr val="2E6BFF"/>
            </a:solidFill>
            <a:prstDash val="solid"/>
            <a:headEnd type="none"/>
            <a:tailEnd type="triangle"/>
          </a:ln>
        </p:spPr>
      </p:sp>
      <p:sp>
        <p:nvSpPr>
          <p:cNvPr id="9" name="Text 7"/>
          <p:cNvSpPr/>
          <p:nvPr/>
        </p:nvSpPr>
        <p:spPr>
          <a:xfrm>
            <a:off x="7818120" y="1508760"/>
            <a:ext cx="914400" cy="228600"/>
          </a:xfrm>
          <a:prstGeom prst="rect">
            <a:avLst/>
          </a:prstGeom>
          <a:noFill/>
          <a:ln/>
        </p:spPr>
        <p:txBody>
          <a:bodyPr wrap="square" lIns="0" tIns="0" rIns="0" bIns="0" rtlCol="0" anchor="ctr"/>
          <a:lstStyle/>
          <a:p>
            <a:pPr indent="0" marL="0">
              <a:buNone/>
            </a:pPr>
            <a:r>
              <a:rPr lang="en-US" sz="1200" b="1" dirty="0">
                <a:solidFill>
                  <a:srgbClr val="8A98AA"/>
                </a:solidFill>
              </a:rPr>
              <a:t>TO</a:t>
            </a:r>
            <a:endParaRPr lang="en-US" sz="1200" dirty="0"/>
          </a:p>
        </p:txBody>
      </p:sp>
      <p:sp>
        <p:nvSpPr>
          <p:cNvPr id="10" name="Text 8"/>
          <p:cNvSpPr/>
          <p:nvPr/>
        </p:nvSpPr>
        <p:spPr>
          <a:xfrm>
            <a:off x="7818120" y="1874520"/>
            <a:ext cx="3657600" cy="502920"/>
          </a:xfrm>
          <a:prstGeom prst="rect">
            <a:avLst/>
          </a:prstGeom>
          <a:noFill/>
          <a:ln/>
        </p:spPr>
        <p:txBody>
          <a:bodyPr wrap="square" lIns="0" tIns="0" rIns="0" bIns="0" rtlCol="0" anchor="ctr"/>
          <a:lstStyle/>
          <a:p>
            <a:pPr indent="0" marL="0">
              <a:buNone/>
            </a:pPr>
            <a:r>
              <a:rPr lang="en-US" sz="3000" b="1" dirty="0">
                <a:solidFill>
                  <a:srgbClr val="162033"/>
                </a:solidFill>
              </a:rPr>
              <a:t>Owning outcomes</a:t>
            </a:r>
            <a:endParaRPr lang="en-US" sz="3000" dirty="0"/>
          </a:p>
        </p:txBody>
      </p:sp>
      <p:sp>
        <p:nvSpPr>
          <p:cNvPr id="11" name="Text 9"/>
          <p:cNvSpPr/>
          <p:nvPr/>
        </p:nvSpPr>
        <p:spPr>
          <a:xfrm>
            <a:off x="7863840" y="2788920"/>
            <a:ext cx="3474720" cy="1143000"/>
          </a:xfrm>
          <a:prstGeom prst="rect">
            <a:avLst/>
          </a:prstGeom>
          <a:noFill/>
          <a:ln/>
        </p:spPr>
        <p:txBody>
          <a:bodyPr wrap="square" lIns="0" tIns="0" rIns="0" bIns="0" rtlCol="0" anchor="ctr"/>
          <a:lstStyle/>
          <a:p>
            <a:pPr indent="0" marL="0">
              <a:buNone/>
            </a:pPr>
            <a:r>
              <a:rPr lang="en-US" sz="1800" dirty="0">
                <a:solidFill>
                  <a:srgbClr val="5D6B82"/>
                </a:solidFill>
              </a:rPr>
              <a:t>Problems chosen</a:t>
            </a:r>
            <a:endParaRPr lang="en-US" sz="1800" dirty="0"/>
          </a:p>
          <a:p>
            <a:pPr indent="0" marL="0">
              <a:buNone/>
            </a:pPr>
            <a:r>
              <a:rPr lang="en-US" sz="1800" dirty="0">
                <a:solidFill>
                  <a:srgbClr val="5D6B82"/>
                </a:solidFill>
              </a:rPr>
              <a:t>Loops designed</a:t>
            </a:r>
            <a:endParaRPr lang="en-US" sz="1800" dirty="0"/>
          </a:p>
          <a:p>
            <a:pPr indent="0" marL="0">
              <a:buNone/>
            </a:pPr>
            <a:r>
              <a:rPr lang="en-US" sz="1800" dirty="0">
                <a:solidFill>
                  <a:srgbClr val="5D6B82"/>
                </a:solidFill>
              </a:rPr>
              <a:t>Evidence evaluated</a:t>
            </a:r>
            <a:endParaRPr lang="en-US" sz="1800" dirty="0"/>
          </a:p>
          <a:p>
            <a:pPr indent="0" marL="0">
              <a:buNone/>
            </a:pPr>
            <a:r>
              <a:rPr lang="en-US" sz="1800" dirty="0">
                <a:solidFill>
                  <a:srgbClr val="5D6B82"/>
                </a:solidFill>
              </a:rPr>
              <a:t>Decisions improved</a:t>
            </a:r>
            <a:endParaRPr lang="en-US" sz="1800" dirty="0"/>
          </a:p>
        </p:txBody>
      </p:sp>
      <p:sp>
        <p:nvSpPr>
          <p:cNvPr id="12" name="Text 10"/>
          <p:cNvSpPr/>
          <p:nvPr/>
        </p:nvSpPr>
        <p:spPr>
          <a:xfrm>
            <a:off x="960120" y="4983480"/>
            <a:ext cx="10332720" cy="658368"/>
          </a:xfrm>
          <a:prstGeom prst="rect">
            <a:avLst/>
          </a:prstGeom>
          <a:noFill/>
          <a:ln/>
        </p:spPr>
        <p:txBody>
          <a:bodyPr wrap="square" lIns="0" tIns="0" rIns="0" bIns="0" rtlCol="0" anchor="ctr"/>
          <a:lstStyle/>
          <a:p>
            <a:pPr algn="ctr" indent="0" marL="0">
              <a:buNone/>
            </a:pPr>
            <a:r>
              <a:rPr lang="en-US" sz="2000" b="1" dirty="0">
                <a:solidFill>
                  <a:srgbClr val="162033"/>
                </a:solidFill>
              </a:rPr>
              <a:t>The future career unit is less “what did I personally execute?” and more “what reliable intelligence system did I design and direct?”</a:t>
            </a:r>
            <a:endParaRPr lang="en-US" sz="2000" dirty="0"/>
          </a:p>
        </p:txBody>
      </p:sp>
      <p:sp>
        <p:nvSpPr>
          <p:cNvPr id="13" name="Text 11"/>
          <p:cNvSpPr/>
          <p:nvPr/>
        </p:nvSpPr>
        <p:spPr>
          <a:xfrm>
            <a:off x="594360" y="6556248"/>
            <a:ext cx="4754880" cy="164592"/>
          </a:xfrm>
          <a:prstGeom prst="rect">
            <a:avLst/>
          </a:prstGeom>
          <a:noFill/>
          <a:ln/>
        </p:spPr>
        <p:txBody>
          <a:bodyPr wrap="square" lIns="0" tIns="0" rIns="0" bIns="0" rtlCol="0" anchor="ctr"/>
          <a:lstStyle/>
          <a:p>
            <a:pPr indent="0" marL="0">
              <a:buNone/>
            </a:pPr>
            <a:r>
              <a:rPr lang="en-US" sz="750" dirty="0">
                <a:solidFill>
                  <a:srgbClr val="8A98AA"/>
                </a:solidFill>
              </a:rPr>
              <a:t>Future Engineer &amp; Applied Researcher</a:t>
            </a:r>
            <a:endParaRPr lang="en-US" sz="750" dirty="0"/>
          </a:p>
        </p:txBody>
      </p:sp>
      <p:sp>
        <p:nvSpPr>
          <p:cNvPr id="14" name="Text 12"/>
          <p:cNvSpPr/>
          <p:nvPr/>
        </p:nvSpPr>
        <p:spPr>
          <a:xfrm>
            <a:off x="11201400" y="6556248"/>
            <a:ext cx="384048" cy="164592"/>
          </a:xfrm>
          <a:prstGeom prst="rect">
            <a:avLst/>
          </a:prstGeom>
          <a:noFill/>
          <a:ln/>
        </p:spPr>
        <p:txBody>
          <a:bodyPr wrap="square" lIns="0" tIns="0" rIns="0" bIns="0" rtlCol="0" anchor="ctr"/>
          <a:lstStyle/>
          <a:p>
            <a:pPr algn="r" indent="0" marL="0">
              <a:buNone/>
            </a:pPr>
            <a:r>
              <a:rPr lang="en-US" sz="750" dirty="0">
                <a:solidFill>
                  <a:srgbClr val="8A98AA"/>
                </a:solidFill>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20040"/>
            <a:ext cx="8778240" cy="384048"/>
          </a:xfrm>
          <a:prstGeom prst="rect">
            <a:avLst/>
          </a:prstGeom>
          <a:noFill/>
          <a:ln/>
        </p:spPr>
        <p:txBody>
          <a:bodyPr wrap="square" lIns="0" tIns="0" rIns="0" bIns="0" rtlCol="0" anchor="ctr"/>
          <a:lstStyle/>
          <a:p>
            <a:pPr indent="0" marL="0">
              <a:buNone/>
            </a:pPr>
            <a:r>
              <a:rPr lang="en-US" sz="2400" b="1" dirty="0">
                <a:solidFill>
                  <a:srgbClr val="162033"/>
                </a:solidFill>
                <a:latin typeface="Aptos Display" pitchFamily="34" charset="0"/>
                <a:ea typeface="Aptos Display" pitchFamily="34" charset="-122"/>
                <a:cs typeface="Aptos Display" pitchFamily="34" charset="-120"/>
              </a:rPr>
              <a:t>Six capabilities for AI-native careers</a:t>
            </a:r>
            <a:endParaRPr lang="en-US" sz="2400" dirty="0"/>
          </a:p>
        </p:txBody>
      </p:sp>
      <p:sp>
        <p:nvSpPr>
          <p:cNvPr id="3" name="Text 1"/>
          <p:cNvSpPr/>
          <p:nvPr/>
        </p:nvSpPr>
        <p:spPr>
          <a:xfrm>
            <a:off x="612648" y="768096"/>
            <a:ext cx="8138160" cy="228600"/>
          </a:xfrm>
          <a:prstGeom prst="rect">
            <a:avLst/>
          </a:prstGeom>
          <a:noFill/>
          <a:ln/>
        </p:spPr>
        <p:txBody>
          <a:bodyPr wrap="square" lIns="0" tIns="0" rIns="0" bIns="0" rtlCol="0" anchor="ctr"/>
          <a:lstStyle/>
          <a:p>
            <a:pPr indent="0" marL="0">
              <a:buNone/>
            </a:pPr>
            <a:r>
              <a:rPr lang="en-US" sz="950" dirty="0">
                <a:solidFill>
                  <a:srgbClr val="5D6B82"/>
                </a:solidFill>
              </a:rPr>
              <a:t>A compact progression from understanding to scaling intelligence.</a:t>
            </a:r>
            <a:endParaRPr lang="en-US" sz="950" dirty="0"/>
          </a:p>
        </p:txBody>
      </p:sp>
      <p:sp>
        <p:nvSpPr>
          <p:cNvPr id="4" name="Shape 2"/>
          <p:cNvSpPr/>
          <p:nvPr/>
        </p:nvSpPr>
        <p:spPr>
          <a:xfrm>
            <a:off x="594360" y="1051560"/>
            <a:ext cx="10927080" cy="0"/>
          </a:xfrm>
          <a:prstGeom prst="line">
            <a:avLst/>
          </a:prstGeom>
          <a:noFill/>
          <a:ln w="12700">
            <a:solidFill>
              <a:srgbClr val="D8DEE9"/>
            </a:solidFill>
            <a:prstDash val="solid"/>
          </a:ln>
        </p:spPr>
      </p:sp>
      <p:sp>
        <p:nvSpPr>
          <p:cNvPr id="5" name="Text 3"/>
          <p:cNvSpPr/>
          <p:nvPr/>
        </p:nvSpPr>
        <p:spPr>
          <a:xfrm>
            <a:off x="640080" y="1874520"/>
            <a:ext cx="1517904" cy="1005840"/>
          </a:xfrm>
          <a:prstGeom prst="rect">
            <a:avLst/>
          </a:prstGeom>
          <a:solidFill>
            <a:srgbClr val="EEF4FF"/>
          </a:solidFill>
          <a:ln w="15240">
            <a:solidFill>
              <a:srgbClr val="2E6BFF"/>
            </a:solidFill>
          </a:ln>
        </p:spPr>
        <p:txBody>
          <a:bodyPr wrap="square" lIns="1143" tIns="1143" rIns="1143" bIns="1143" rtlCol="0" anchor="ctr">
            <a:normAutofit/>
          </a:bodyPr>
          <a:lstStyle/>
          <a:p>
            <a:pPr algn="ctr" indent="0" marL="0">
              <a:buNone/>
            </a:pPr>
            <a:r>
              <a:rPr lang="en-US" sz="1200" b="1" dirty="0">
                <a:solidFill>
                  <a:srgbClr val="162033"/>
                </a:solidFill>
              </a:rPr>
              <a:t>1. KNOW</a:t>
            </a:r>
            <a:endParaRPr lang="en-US" sz="1200" dirty="0"/>
          </a:p>
          <a:p>
            <a:pPr algn="ctr" indent="0" marL="0">
              <a:buNone/>
            </a:pPr>
            <a:r>
              <a:rPr lang="en-US" sz="1200" dirty="0">
                <a:solidFill>
                  <a:srgbClr val="162033"/>
                </a:solidFill>
              </a:rPr>
              <a:t>Deep fundamentals and domain expertise</a:t>
            </a:r>
            <a:endParaRPr lang="en-US" sz="1200" dirty="0"/>
          </a:p>
        </p:txBody>
      </p:sp>
      <p:sp>
        <p:nvSpPr>
          <p:cNvPr id="6" name="Shape 4"/>
          <p:cNvSpPr/>
          <p:nvPr/>
        </p:nvSpPr>
        <p:spPr>
          <a:xfrm>
            <a:off x="2203704" y="2377440"/>
            <a:ext cx="228600" cy="0"/>
          </a:xfrm>
          <a:prstGeom prst="line">
            <a:avLst/>
          </a:prstGeom>
          <a:noFill/>
          <a:ln w="17780">
            <a:solidFill>
              <a:srgbClr val="8C99A7"/>
            </a:solidFill>
            <a:prstDash val="solid"/>
            <a:headEnd type="none"/>
            <a:tailEnd type="triangle"/>
          </a:ln>
        </p:spPr>
      </p:sp>
      <p:sp>
        <p:nvSpPr>
          <p:cNvPr id="7" name="Text 5"/>
          <p:cNvSpPr/>
          <p:nvPr/>
        </p:nvSpPr>
        <p:spPr>
          <a:xfrm>
            <a:off x="2505456" y="1874520"/>
            <a:ext cx="1517904" cy="1005840"/>
          </a:xfrm>
          <a:prstGeom prst="rect">
            <a:avLst/>
          </a:prstGeom>
          <a:solidFill>
            <a:srgbClr val="ECFBFA"/>
          </a:solidFill>
          <a:ln w="15240">
            <a:solidFill>
              <a:srgbClr val="00A9A5"/>
            </a:solidFill>
          </a:ln>
        </p:spPr>
        <p:txBody>
          <a:bodyPr wrap="square" lIns="1143" tIns="1143" rIns="1143" bIns="1143" rtlCol="0" anchor="ctr">
            <a:normAutofit/>
          </a:bodyPr>
          <a:lstStyle/>
          <a:p>
            <a:pPr algn="ctr" indent="0" marL="0">
              <a:buNone/>
            </a:pPr>
            <a:r>
              <a:rPr lang="en-US" sz="1200" b="1" dirty="0">
                <a:solidFill>
                  <a:srgbClr val="162033"/>
                </a:solidFill>
              </a:rPr>
              <a:t>2. VERIFY</a:t>
            </a:r>
            <a:endParaRPr lang="en-US" sz="1200" dirty="0"/>
          </a:p>
          <a:p>
            <a:pPr algn="ctr" indent="0" marL="0">
              <a:buNone/>
            </a:pPr>
            <a:r>
              <a:rPr lang="en-US" sz="1200" dirty="0">
                <a:solidFill>
                  <a:srgbClr val="162033"/>
                </a:solidFill>
              </a:rPr>
              <a:t>Evidence that work is correct</a:t>
            </a:r>
            <a:endParaRPr lang="en-US" sz="1200" dirty="0"/>
          </a:p>
        </p:txBody>
      </p:sp>
      <p:sp>
        <p:nvSpPr>
          <p:cNvPr id="8" name="Shape 6"/>
          <p:cNvSpPr/>
          <p:nvPr/>
        </p:nvSpPr>
        <p:spPr>
          <a:xfrm>
            <a:off x="4069080" y="2377440"/>
            <a:ext cx="228600" cy="0"/>
          </a:xfrm>
          <a:prstGeom prst="line">
            <a:avLst/>
          </a:prstGeom>
          <a:noFill/>
          <a:ln w="17780">
            <a:solidFill>
              <a:srgbClr val="8C99A7"/>
            </a:solidFill>
            <a:prstDash val="solid"/>
            <a:headEnd type="none"/>
            <a:tailEnd type="triangle"/>
          </a:ln>
        </p:spPr>
      </p:sp>
      <p:sp>
        <p:nvSpPr>
          <p:cNvPr id="9" name="Text 7"/>
          <p:cNvSpPr/>
          <p:nvPr/>
        </p:nvSpPr>
        <p:spPr>
          <a:xfrm>
            <a:off x="4370832" y="1874520"/>
            <a:ext cx="1517904" cy="1005840"/>
          </a:xfrm>
          <a:prstGeom prst="rect">
            <a:avLst/>
          </a:prstGeom>
          <a:solidFill>
            <a:srgbClr val="F4F0FF"/>
          </a:solidFill>
          <a:ln w="15240">
            <a:solidFill>
              <a:srgbClr val="7B61FF"/>
            </a:solidFill>
          </a:ln>
        </p:spPr>
        <p:txBody>
          <a:bodyPr wrap="square" lIns="1143" tIns="1143" rIns="1143" bIns="1143" rtlCol="0" anchor="ctr">
            <a:normAutofit/>
          </a:bodyPr>
          <a:lstStyle/>
          <a:p>
            <a:pPr algn="ctr" indent="0" marL="0">
              <a:buNone/>
            </a:pPr>
            <a:r>
              <a:rPr lang="en-US" sz="1200" b="1" dirty="0">
                <a:solidFill>
                  <a:srgbClr val="162033"/>
                </a:solidFill>
              </a:rPr>
              <a:t>3. DESIGN</a:t>
            </a:r>
            <a:endParaRPr lang="en-US" sz="1200" dirty="0"/>
          </a:p>
          <a:p>
            <a:pPr algn="ctr" indent="0" marL="0">
              <a:buNone/>
            </a:pPr>
            <a:r>
              <a:rPr lang="en-US" sz="1200" dirty="0">
                <a:solidFill>
                  <a:srgbClr val="162033"/>
                </a:solidFill>
              </a:rPr>
              <a:t>Reliable loops</a:t>
            </a:r>
            <a:endParaRPr lang="en-US" sz="1200" dirty="0"/>
          </a:p>
        </p:txBody>
      </p:sp>
      <p:sp>
        <p:nvSpPr>
          <p:cNvPr id="10" name="Shape 8"/>
          <p:cNvSpPr/>
          <p:nvPr/>
        </p:nvSpPr>
        <p:spPr>
          <a:xfrm>
            <a:off x="5934456" y="2377440"/>
            <a:ext cx="228600" cy="0"/>
          </a:xfrm>
          <a:prstGeom prst="line">
            <a:avLst/>
          </a:prstGeom>
          <a:noFill/>
          <a:ln w="17780">
            <a:solidFill>
              <a:srgbClr val="8C99A7"/>
            </a:solidFill>
            <a:prstDash val="solid"/>
            <a:headEnd type="none"/>
            <a:tailEnd type="triangle"/>
          </a:ln>
        </p:spPr>
      </p:sp>
      <p:sp>
        <p:nvSpPr>
          <p:cNvPr id="11" name="Text 9"/>
          <p:cNvSpPr/>
          <p:nvPr/>
        </p:nvSpPr>
        <p:spPr>
          <a:xfrm>
            <a:off x="6236208" y="1874520"/>
            <a:ext cx="1517904" cy="1005840"/>
          </a:xfrm>
          <a:prstGeom prst="rect">
            <a:avLst/>
          </a:prstGeom>
          <a:solidFill>
            <a:srgbClr val="FFF7E8"/>
          </a:solidFill>
          <a:ln w="15240">
            <a:solidFill>
              <a:srgbClr val="F5A623"/>
            </a:solidFill>
          </a:ln>
        </p:spPr>
        <p:txBody>
          <a:bodyPr wrap="square" lIns="1143" tIns="1143" rIns="1143" bIns="1143" rtlCol="0" anchor="ctr">
            <a:normAutofit/>
          </a:bodyPr>
          <a:lstStyle/>
          <a:p>
            <a:pPr algn="ctr" indent="0" marL="0">
              <a:buNone/>
            </a:pPr>
            <a:r>
              <a:rPr lang="en-US" sz="1200" b="1" dirty="0">
                <a:solidFill>
                  <a:srgbClr val="162033"/>
                </a:solidFill>
              </a:rPr>
              <a:t>4. CHOOSE</a:t>
            </a:r>
            <a:endParaRPr lang="en-US" sz="1200" dirty="0"/>
          </a:p>
          <a:p>
            <a:pPr algn="ctr" indent="0" marL="0">
              <a:buNone/>
            </a:pPr>
            <a:r>
              <a:rPr lang="en-US" sz="1200" dirty="0">
                <a:solidFill>
                  <a:srgbClr val="162033"/>
                </a:solidFill>
              </a:rPr>
              <a:t>Problem ownership + taste</a:t>
            </a:r>
            <a:endParaRPr lang="en-US" sz="1200" dirty="0"/>
          </a:p>
        </p:txBody>
      </p:sp>
      <p:sp>
        <p:nvSpPr>
          <p:cNvPr id="12" name="Shape 10"/>
          <p:cNvSpPr/>
          <p:nvPr/>
        </p:nvSpPr>
        <p:spPr>
          <a:xfrm>
            <a:off x="7799832" y="2377440"/>
            <a:ext cx="228600" cy="0"/>
          </a:xfrm>
          <a:prstGeom prst="line">
            <a:avLst/>
          </a:prstGeom>
          <a:noFill/>
          <a:ln w="17780">
            <a:solidFill>
              <a:srgbClr val="8C99A7"/>
            </a:solidFill>
            <a:prstDash val="solid"/>
            <a:headEnd type="none"/>
            <a:tailEnd type="triangle"/>
          </a:ln>
        </p:spPr>
      </p:sp>
      <p:sp>
        <p:nvSpPr>
          <p:cNvPr id="13" name="Text 11"/>
          <p:cNvSpPr/>
          <p:nvPr/>
        </p:nvSpPr>
        <p:spPr>
          <a:xfrm>
            <a:off x="8101584" y="1874520"/>
            <a:ext cx="1517904" cy="1005840"/>
          </a:xfrm>
          <a:prstGeom prst="rect">
            <a:avLst/>
          </a:prstGeom>
          <a:solidFill>
            <a:srgbClr val="FFF0F6"/>
          </a:solidFill>
          <a:ln w="15240">
            <a:solidFill>
              <a:srgbClr val="E55288"/>
            </a:solidFill>
          </a:ln>
        </p:spPr>
        <p:txBody>
          <a:bodyPr wrap="square" lIns="1143" tIns="1143" rIns="1143" bIns="1143" rtlCol="0" anchor="ctr">
            <a:normAutofit/>
          </a:bodyPr>
          <a:lstStyle/>
          <a:p>
            <a:pPr algn="ctr" indent="0" marL="0">
              <a:buNone/>
            </a:pPr>
            <a:r>
              <a:rPr lang="en-US" sz="1200" b="1" dirty="0">
                <a:solidFill>
                  <a:srgbClr val="162033"/>
                </a:solidFill>
              </a:rPr>
              <a:t>5. SCALE</a:t>
            </a:r>
            <a:endParaRPr lang="en-US" sz="1200" dirty="0"/>
          </a:p>
          <a:p>
            <a:pPr algn="ctr" indent="0" marL="0">
              <a:buNone/>
            </a:pPr>
            <a:r>
              <a:rPr lang="en-US" sz="1200" dirty="0">
                <a:solidFill>
                  <a:srgbClr val="162033"/>
                </a:solidFill>
              </a:rPr>
              <a:t>Agent organizations + allocation</a:t>
            </a:r>
            <a:endParaRPr lang="en-US" sz="1200" dirty="0"/>
          </a:p>
        </p:txBody>
      </p:sp>
      <p:sp>
        <p:nvSpPr>
          <p:cNvPr id="14" name="Shape 12"/>
          <p:cNvSpPr/>
          <p:nvPr/>
        </p:nvSpPr>
        <p:spPr>
          <a:xfrm>
            <a:off x="9665208" y="2377440"/>
            <a:ext cx="228600" cy="0"/>
          </a:xfrm>
          <a:prstGeom prst="line">
            <a:avLst/>
          </a:prstGeom>
          <a:noFill/>
          <a:ln w="17780">
            <a:solidFill>
              <a:srgbClr val="8C99A7"/>
            </a:solidFill>
            <a:prstDash val="solid"/>
            <a:headEnd type="none"/>
            <a:tailEnd type="triangle"/>
          </a:ln>
        </p:spPr>
      </p:sp>
      <p:sp>
        <p:nvSpPr>
          <p:cNvPr id="15" name="Text 13"/>
          <p:cNvSpPr/>
          <p:nvPr/>
        </p:nvSpPr>
        <p:spPr>
          <a:xfrm>
            <a:off x="9966960" y="1874520"/>
            <a:ext cx="1517904" cy="1005840"/>
          </a:xfrm>
          <a:prstGeom prst="rect">
            <a:avLst/>
          </a:prstGeom>
          <a:solidFill>
            <a:srgbClr val="EFFFF6"/>
          </a:solidFill>
          <a:ln w="15240">
            <a:solidFill>
              <a:srgbClr val="27A96B"/>
            </a:solidFill>
          </a:ln>
        </p:spPr>
        <p:txBody>
          <a:bodyPr wrap="square" lIns="1143" tIns="1143" rIns="1143" bIns="1143" rtlCol="0" anchor="ctr">
            <a:normAutofit/>
          </a:bodyPr>
          <a:lstStyle/>
          <a:p>
            <a:pPr algn="ctr" indent="0" marL="0">
              <a:buNone/>
            </a:pPr>
            <a:r>
              <a:rPr lang="en-US" sz="1200" b="1" dirty="0">
                <a:solidFill>
                  <a:srgbClr val="162033"/>
                </a:solidFill>
              </a:rPr>
              <a:t>6. COMMUNICATE</a:t>
            </a:r>
            <a:endParaRPr lang="en-US" sz="1200" dirty="0"/>
          </a:p>
          <a:p>
            <a:pPr algn="ctr" indent="0" marL="0">
              <a:buNone/>
            </a:pPr>
            <a:r>
              <a:rPr lang="en-US" sz="1200" dirty="0">
                <a:solidFill>
                  <a:srgbClr val="162033"/>
                </a:solidFill>
              </a:rPr>
              <a:t>Precision with humans and AI systems</a:t>
            </a:r>
            <a:endParaRPr lang="en-US" sz="1200" dirty="0"/>
          </a:p>
        </p:txBody>
      </p:sp>
      <p:sp>
        <p:nvSpPr>
          <p:cNvPr id="16" name="Text 14"/>
          <p:cNvSpPr/>
          <p:nvPr/>
        </p:nvSpPr>
        <p:spPr>
          <a:xfrm>
            <a:off x="1005840" y="4160520"/>
            <a:ext cx="10149840" cy="658368"/>
          </a:xfrm>
          <a:prstGeom prst="rect">
            <a:avLst/>
          </a:prstGeom>
          <a:noFill/>
          <a:ln/>
        </p:spPr>
        <p:txBody>
          <a:bodyPr wrap="square" lIns="0" tIns="0" rIns="0" bIns="0" rtlCol="0" anchor="ctr"/>
          <a:lstStyle/>
          <a:p>
            <a:pPr algn="ctr" indent="0" marL="0">
              <a:buNone/>
            </a:pPr>
            <a:r>
              <a:rPr lang="en-US" sz="2100" b="1" dirty="0">
                <a:solidFill>
                  <a:srgbClr val="162033"/>
                </a:solidFill>
              </a:rPr>
              <a:t>The pattern: execution becomes abundant, so advantage shifts to deciding what matters, verifying what is true, and coordinating intelligence at scale.</a:t>
            </a:r>
            <a:endParaRPr lang="en-US" sz="2100" dirty="0"/>
          </a:p>
        </p:txBody>
      </p:sp>
      <p:sp>
        <p:nvSpPr>
          <p:cNvPr id="17" name="Text 15"/>
          <p:cNvSpPr/>
          <p:nvPr/>
        </p:nvSpPr>
        <p:spPr>
          <a:xfrm>
            <a:off x="3977640" y="5303520"/>
            <a:ext cx="4297680" cy="320040"/>
          </a:xfrm>
          <a:prstGeom prst="rect">
            <a:avLst/>
          </a:prstGeom>
          <a:noFill/>
          <a:ln/>
        </p:spPr>
        <p:txBody>
          <a:bodyPr wrap="square" lIns="0" tIns="0" rIns="0" bIns="0" rtlCol="0" anchor="ctr"/>
          <a:lstStyle/>
          <a:p>
            <a:pPr algn="ctr" indent="0" marL="0">
              <a:buNone/>
            </a:pPr>
            <a:r>
              <a:rPr lang="en-US" sz="1800" b="1" dirty="0">
                <a:solidFill>
                  <a:srgbClr val="2E6BFF"/>
                </a:solidFill>
              </a:rPr>
              <a:t>problem → loop → evidence → decision</a:t>
            </a:r>
            <a:endParaRPr lang="en-US" sz="1800" dirty="0"/>
          </a:p>
        </p:txBody>
      </p:sp>
      <p:sp>
        <p:nvSpPr>
          <p:cNvPr id="18" name="Text 16"/>
          <p:cNvSpPr/>
          <p:nvPr/>
        </p:nvSpPr>
        <p:spPr>
          <a:xfrm>
            <a:off x="594360" y="6556248"/>
            <a:ext cx="4754880" cy="164592"/>
          </a:xfrm>
          <a:prstGeom prst="rect">
            <a:avLst/>
          </a:prstGeom>
          <a:noFill/>
          <a:ln/>
        </p:spPr>
        <p:txBody>
          <a:bodyPr wrap="square" lIns="0" tIns="0" rIns="0" bIns="0" rtlCol="0" anchor="ctr"/>
          <a:lstStyle/>
          <a:p>
            <a:pPr indent="0" marL="0">
              <a:buNone/>
            </a:pPr>
            <a:r>
              <a:rPr lang="en-US" sz="750" dirty="0">
                <a:solidFill>
                  <a:srgbClr val="8A98AA"/>
                </a:solidFill>
              </a:rPr>
              <a:t>Future Engineer &amp; Applied Researcher</a:t>
            </a:r>
            <a:endParaRPr lang="en-US" sz="750" dirty="0"/>
          </a:p>
        </p:txBody>
      </p:sp>
      <p:sp>
        <p:nvSpPr>
          <p:cNvPr id="19" name="Text 17"/>
          <p:cNvSpPr/>
          <p:nvPr/>
        </p:nvSpPr>
        <p:spPr>
          <a:xfrm>
            <a:off x="11201400" y="6556248"/>
            <a:ext cx="384048" cy="164592"/>
          </a:xfrm>
          <a:prstGeom prst="rect">
            <a:avLst/>
          </a:prstGeom>
          <a:noFill/>
          <a:ln/>
        </p:spPr>
        <p:txBody>
          <a:bodyPr wrap="square" lIns="0" tIns="0" rIns="0" bIns="0" rtlCol="0" anchor="ctr"/>
          <a:lstStyle/>
          <a:p>
            <a:pPr algn="r" indent="0" marL="0">
              <a:buNone/>
            </a:pPr>
            <a:r>
              <a:rPr lang="en-US" sz="750" dirty="0">
                <a:solidFill>
                  <a:srgbClr val="8A98AA"/>
                </a:solidFill>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20040"/>
            <a:ext cx="8778240" cy="384048"/>
          </a:xfrm>
          <a:prstGeom prst="rect">
            <a:avLst/>
          </a:prstGeom>
          <a:noFill/>
          <a:ln/>
        </p:spPr>
        <p:txBody>
          <a:bodyPr wrap="square" lIns="0" tIns="0" rIns="0" bIns="0" rtlCol="0" anchor="ctr"/>
          <a:lstStyle/>
          <a:p>
            <a:pPr indent="0" marL="0">
              <a:buNone/>
            </a:pPr>
            <a:r>
              <a:rPr lang="en-US" sz="2400" b="1" dirty="0">
                <a:solidFill>
                  <a:srgbClr val="162033"/>
                </a:solidFill>
                <a:latin typeface="Aptos Display" pitchFamily="34" charset="0"/>
                <a:ea typeface="Aptos Display" pitchFamily="34" charset="-122"/>
                <a:cs typeface="Aptos Display" pitchFamily="34" charset="-120"/>
              </a:rPr>
              <a:t>Build reliable AI-driven work</a:t>
            </a:r>
            <a:endParaRPr lang="en-US" sz="2400" dirty="0"/>
          </a:p>
        </p:txBody>
      </p:sp>
      <p:sp>
        <p:nvSpPr>
          <p:cNvPr id="3" name="Text 1"/>
          <p:cNvSpPr/>
          <p:nvPr/>
        </p:nvSpPr>
        <p:spPr>
          <a:xfrm>
            <a:off x="612648" y="768096"/>
            <a:ext cx="8138160" cy="228600"/>
          </a:xfrm>
          <a:prstGeom prst="rect">
            <a:avLst/>
          </a:prstGeom>
          <a:noFill/>
          <a:ln/>
        </p:spPr>
        <p:txBody>
          <a:bodyPr wrap="square" lIns="0" tIns="0" rIns="0" bIns="0" rtlCol="0" anchor="ctr"/>
          <a:lstStyle/>
          <a:p>
            <a:pPr indent="0" marL="0">
              <a:buNone/>
            </a:pPr>
            <a:r>
              <a:rPr lang="en-US" sz="950" dirty="0">
                <a:solidFill>
                  <a:srgbClr val="5D6B82"/>
                </a:solidFill>
              </a:rPr>
              <a:t>The first three capabilities make generated work technically trustworthy.</a:t>
            </a:r>
            <a:endParaRPr lang="en-US" sz="950" dirty="0"/>
          </a:p>
        </p:txBody>
      </p:sp>
      <p:sp>
        <p:nvSpPr>
          <p:cNvPr id="4" name="Shape 2"/>
          <p:cNvSpPr/>
          <p:nvPr/>
        </p:nvSpPr>
        <p:spPr>
          <a:xfrm>
            <a:off x="594360" y="1051560"/>
            <a:ext cx="10927080" cy="0"/>
          </a:xfrm>
          <a:prstGeom prst="line">
            <a:avLst/>
          </a:prstGeom>
          <a:noFill/>
          <a:ln w="12700">
            <a:solidFill>
              <a:srgbClr val="D8DEE9"/>
            </a:solidFill>
            <a:prstDash val="solid"/>
          </a:ln>
        </p:spPr>
      </p:sp>
      <p:sp>
        <p:nvSpPr>
          <p:cNvPr id="5" name="Text 3"/>
          <p:cNvSpPr/>
          <p:nvPr/>
        </p:nvSpPr>
        <p:spPr>
          <a:xfrm>
            <a:off x="777240" y="1600200"/>
            <a:ext cx="3154680" cy="2286000"/>
          </a:xfrm>
          <a:prstGeom prst="rect">
            <a:avLst/>
          </a:prstGeom>
          <a:solidFill>
            <a:srgbClr val="EEF4FF"/>
          </a:solidFill>
          <a:ln w="15240">
            <a:solidFill>
              <a:srgbClr val="2E6BFF"/>
            </a:solidFill>
          </a:ln>
        </p:spPr>
        <p:txBody>
          <a:bodyPr wrap="square" rtlCol="0" anchor="ctr">
            <a:normAutofit/>
          </a:bodyPr>
          <a:lstStyle/>
          <a:p>
            <a:pPr indent="0" marL="0">
              <a:buNone/>
            </a:pPr>
            <a:r>
              <a:rPr lang="en-US" sz="1500" b="1" dirty="0">
                <a:solidFill>
                  <a:srgbClr val="162033"/>
                </a:solidFill>
                <a:latin typeface="Aptos" pitchFamily="34" charset="0"/>
                <a:ea typeface="Aptos" pitchFamily="34" charset="-122"/>
                <a:cs typeface="Aptos" pitchFamily="34" charset="-120"/>
              </a:rPr>
              <a:t>1. Build deep fundamentals and domain expertise.</a:t>
            </a:r>
            <a:endParaRPr lang="en-US" sz="1500" dirty="0"/>
          </a:p>
          <a:p>
            <a:pPr indent="0" marL="0">
              <a:buNone/>
            </a:pPr>
            <a:r>
              <a:rPr lang="en-US" sz="1500" dirty="0">
                <a:solidFill>
                  <a:srgbClr val="162033"/>
                </a:solidFill>
                <a:latin typeface="Aptos" pitchFamily="34" charset="0"/>
                <a:ea typeface="Aptos" pitchFamily="34" charset="-122"/>
                <a:cs typeface="Aptos" pitchFamily="34" charset="-120"/>
              </a:rPr>
              <a:t>Understand enough to reason independently, recognize bad assumptions, and know when AI is wrong.</a:t>
            </a:r>
            <a:endParaRPr lang="en-US" sz="1500" dirty="0"/>
          </a:p>
        </p:txBody>
      </p:sp>
      <p:sp>
        <p:nvSpPr>
          <p:cNvPr id="6" name="Shape 4"/>
          <p:cNvSpPr/>
          <p:nvPr/>
        </p:nvSpPr>
        <p:spPr>
          <a:xfrm>
            <a:off x="4041648" y="2743200"/>
            <a:ext cx="393192" cy="0"/>
          </a:xfrm>
          <a:prstGeom prst="line">
            <a:avLst/>
          </a:prstGeom>
          <a:noFill/>
          <a:ln w="17780">
            <a:solidFill>
              <a:srgbClr val="8C99A7"/>
            </a:solidFill>
            <a:prstDash val="solid"/>
            <a:headEnd type="none"/>
            <a:tailEnd type="triangle"/>
          </a:ln>
        </p:spPr>
      </p:sp>
      <p:sp>
        <p:nvSpPr>
          <p:cNvPr id="7" name="Text 5"/>
          <p:cNvSpPr/>
          <p:nvPr/>
        </p:nvSpPr>
        <p:spPr>
          <a:xfrm>
            <a:off x="4526280" y="1600200"/>
            <a:ext cx="3154680" cy="2286000"/>
          </a:xfrm>
          <a:prstGeom prst="rect">
            <a:avLst/>
          </a:prstGeom>
          <a:solidFill>
            <a:srgbClr val="ECFBFA"/>
          </a:solidFill>
          <a:ln w="15240">
            <a:solidFill>
              <a:srgbClr val="00A9A5"/>
            </a:solidFill>
          </a:ln>
        </p:spPr>
        <p:txBody>
          <a:bodyPr wrap="square" rtlCol="0" anchor="ctr">
            <a:normAutofit/>
          </a:bodyPr>
          <a:lstStyle/>
          <a:p>
            <a:pPr indent="0" marL="0">
              <a:buNone/>
            </a:pPr>
            <a:r>
              <a:rPr lang="en-US" sz="1500" b="1" dirty="0">
                <a:solidFill>
                  <a:srgbClr val="162033"/>
                </a:solidFill>
                <a:latin typeface="Aptos" pitchFamily="34" charset="0"/>
                <a:ea typeface="Aptos" pitchFamily="34" charset="-122"/>
                <a:cs typeface="Aptos" pitchFamily="34" charset="-120"/>
              </a:rPr>
              <a:t>2. Become exceptional at verification.</a:t>
            </a:r>
            <a:endParaRPr lang="en-US" sz="1500" dirty="0"/>
          </a:p>
          <a:p>
            <a:pPr indent="0" marL="0">
              <a:buNone/>
            </a:pPr>
            <a:r>
              <a:rPr lang="en-US" sz="1500" dirty="0">
                <a:solidFill>
                  <a:srgbClr val="162033"/>
                </a:solidFill>
                <a:latin typeface="Aptos" pitchFamily="34" charset="0"/>
                <a:ea typeface="Aptos" pitchFamily="34" charset="-122"/>
                <a:cs typeface="Aptos" pitchFamily="34" charset="-120"/>
              </a:rPr>
              <a:t>Design tests, metrics, experiments, invariants, simulations, and evidence that establish whether work is actually correct.</a:t>
            </a:r>
            <a:endParaRPr lang="en-US" sz="1500" dirty="0"/>
          </a:p>
        </p:txBody>
      </p:sp>
      <p:sp>
        <p:nvSpPr>
          <p:cNvPr id="8" name="Shape 6"/>
          <p:cNvSpPr/>
          <p:nvPr/>
        </p:nvSpPr>
        <p:spPr>
          <a:xfrm>
            <a:off x="7790688" y="2743200"/>
            <a:ext cx="393192" cy="0"/>
          </a:xfrm>
          <a:prstGeom prst="line">
            <a:avLst/>
          </a:prstGeom>
          <a:noFill/>
          <a:ln w="17780">
            <a:solidFill>
              <a:srgbClr val="8C99A7"/>
            </a:solidFill>
            <a:prstDash val="solid"/>
            <a:headEnd type="none"/>
            <a:tailEnd type="triangle"/>
          </a:ln>
        </p:spPr>
      </p:sp>
      <p:sp>
        <p:nvSpPr>
          <p:cNvPr id="9" name="Text 7"/>
          <p:cNvSpPr/>
          <p:nvPr/>
        </p:nvSpPr>
        <p:spPr>
          <a:xfrm>
            <a:off x="8275320" y="1600200"/>
            <a:ext cx="3154680" cy="2286000"/>
          </a:xfrm>
          <a:prstGeom prst="rect">
            <a:avLst/>
          </a:prstGeom>
          <a:solidFill>
            <a:srgbClr val="F4F0FF"/>
          </a:solidFill>
          <a:ln w="15240">
            <a:solidFill>
              <a:srgbClr val="7B61FF"/>
            </a:solidFill>
          </a:ln>
        </p:spPr>
        <p:txBody>
          <a:bodyPr wrap="square" rtlCol="0" anchor="ctr">
            <a:normAutofit/>
          </a:bodyPr>
          <a:lstStyle/>
          <a:p>
            <a:pPr indent="0" marL="0">
              <a:buNone/>
            </a:pPr>
            <a:r>
              <a:rPr lang="en-US" sz="1500" b="1" dirty="0">
                <a:solidFill>
                  <a:srgbClr val="162033"/>
                </a:solidFill>
                <a:latin typeface="Aptos" pitchFamily="34" charset="0"/>
                <a:ea typeface="Aptos" pitchFamily="34" charset="-122"/>
                <a:cs typeface="Aptos" pitchFamily="34" charset="-120"/>
              </a:rPr>
              <a:t>3. Design reliable loops.</a:t>
            </a:r>
            <a:endParaRPr lang="en-US" sz="1500" dirty="0"/>
          </a:p>
          <a:p>
            <a:pPr indent="0" marL="0">
              <a:buNone/>
            </a:pPr>
            <a:r>
              <a:rPr lang="en-US" sz="1500" dirty="0">
                <a:solidFill>
                  <a:srgbClr val="162033"/>
                </a:solidFill>
                <a:latin typeface="Aptos" pitchFamily="34" charset="0"/>
                <a:ea typeface="Aptos" pitchFamily="34" charset="-122"/>
                <a:cs typeface="Aptos" pitchFamily="34" charset="-120"/>
              </a:rPr>
              <a:t>Specify goals, context, tools, memory/state, verification, recovery, budgets, and stopping conditions.</a:t>
            </a:r>
            <a:endParaRPr lang="en-US" sz="1500" dirty="0"/>
          </a:p>
        </p:txBody>
      </p:sp>
      <p:sp>
        <p:nvSpPr>
          <p:cNvPr id="10" name="Text 8"/>
          <p:cNvSpPr/>
          <p:nvPr/>
        </p:nvSpPr>
        <p:spPr>
          <a:xfrm>
            <a:off x="960120" y="5074920"/>
            <a:ext cx="10241280" cy="640080"/>
          </a:xfrm>
          <a:prstGeom prst="rect">
            <a:avLst/>
          </a:prstGeom>
          <a:noFill/>
          <a:ln/>
        </p:spPr>
        <p:txBody>
          <a:bodyPr wrap="square" lIns="0" tIns="0" rIns="0" bIns="0" rtlCol="0" anchor="ctr"/>
          <a:lstStyle/>
          <a:p>
            <a:pPr algn="ctr" indent="0" marL="0">
              <a:buNone/>
            </a:pPr>
            <a:r>
              <a:rPr lang="en-US" sz="2100" b="1" dirty="0">
                <a:solidFill>
                  <a:srgbClr val="162033"/>
                </a:solidFill>
              </a:rPr>
              <a:t>AI fluency without independent reasoning creates dependency. AI fluency plus fundamentals and verification creates leverage.</a:t>
            </a:r>
            <a:endParaRPr lang="en-US" sz="2100" dirty="0"/>
          </a:p>
        </p:txBody>
      </p:sp>
      <p:sp>
        <p:nvSpPr>
          <p:cNvPr id="11" name="Text 9"/>
          <p:cNvSpPr/>
          <p:nvPr/>
        </p:nvSpPr>
        <p:spPr>
          <a:xfrm>
            <a:off x="594360" y="6556248"/>
            <a:ext cx="4754880" cy="164592"/>
          </a:xfrm>
          <a:prstGeom prst="rect">
            <a:avLst/>
          </a:prstGeom>
          <a:noFill/>
          <a:ln/>
        </p:spPr>
        <p:txBody>
          <a:bodyPr wrap="square" lIns="0" tIns="0" rIns="0" bIns="0" rtlCol="0" anchor="ctr"/>
          <a:lstStyle/>
          <a:p>
            <a:pPr indent="0" marL="0">
              <a:buNone/>
            </a:pPr>
            <a:r>
              <a:rPr lang="en-US" sz="750" dirty="0">
                <a:solidFill>
                  <a:srgbClr val="8A98AA"/>
                </a:solidFill>
              </a:rPr>
              <a:t>Future Engineer &amp; Applied Researcher</a:t>
            </a:r>
            <a:endParaRPr lang="en-US" sz="750" dirty="0"/>
          </a:p>
        </p:txBody>
      </p:sp>
      <p:sp>
        <p:nvSpPr>
          <p:cNvPr id="12" name="Text 10"/>
          <p:cNvSpPr/>
          <p:nvPr/>
        </p:nvSpPr>
        <p:spPr>
          <a:xfrm>
            <a:off x="11201400" y="6556248"/>
            <a:ext cx="384048" cy="164592"/>
          </a:xfrm>
          <a:prstGeom prst="rect">
            <a:avLst/>
          </a:prstGeom>
          <a:noFill/>
          <a:ln/>
        </p:spPr>
        <p:txBody>
          <a:bodyPr wrap="square" lIns="0" tIns="0" rIns="0" bIns="0" rtlCol="0" anchor="ctr"/>
          <a:lstStyle/>
          <a:p>
            <a:pPr algn="r" indent="0" marL="0">
              <a:buNone/>
            </a:pPr>
            <a:r>
              <a:rPr lang="en-US" sz="750" dirty="0">
                <a:solidFill>
                  <a:srgbClr val="8A98AA"/>
                </a:solidFill>
              </a:rPr>
              <a:t>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20040"/>
            <a:ext cx="8778240" cy="384048"/>
          </a:xfrm>
          <a:prstGeom prst="rect">
            <a:avLst/>
          </a:prstGeom>
          <a:noFill/>
          <a:ln/>
        </p:spPr>
        <p:txBody>
          <a:bodyPr wrap="square" lIns="0" tIns="0" rIns="0" bIns="0" rtlCol="0" anchor="ctr"/>
          <a:lstStyle/>
          <a:p>
            <a:pPr indent="0" marL="0">
              <a:buNone/>
            </a:pPr>
            <a:r>
              <a:rPr lang="en-US" sz="2400" b="1" dirty="0">
                <a:solidFill>
                  <a:srgbClr val="162033"/>
                </a:solidFill>
                <a:latin typeface="Aptos Display" pitchFamily="34" charset="0"/>
                <a:ea typeface="Aptos Display" pitchFamily="34" charset="-122"/>
                <a:cs typeface="Aptos Display" pitchFamily="34" charset="-120"/>
              </a:rPr>
              <a:t>Choose well</a:t>
            </a:r>
            <a:endParaRPr lang="en-US" sz="2400" dirty="0"/>
          </a:p>
        </p:txBody>
      </p:sp>
      <p:sp>
        <p:nvSpPr>
          <p:cNvPr id="3" name="Text 1"/>
          <p:cNvSpPr/>
          <p:nvPr/>
        </p:nvSpPr>
        <p:spPr>
          <a:xfrm>
            <a:off x="612648" y="768096"/>
            <a:ext cx="8138160" cy="228600"/>
          </a:xfrm>
          <a:prstGeom prst="rect">
            <a:avLst/>
          </a:prstGeom>
          <a:noFill/>
          <a:ln/>
        </p:spPr>
        <p:txBody>
          <a:bodyPr wrap="square" lIns="0" tIns="0" rIns="0" bIns="0" rtlCol="0" anchor="ctr"/>
          <a:lstStyle/>
          <a:p>
            <a:pPr indent="0" marL="0">
              <a:buNone/>
            </a:pPr>
            <a:r>
              <a:rPr lang="en-US" sz="950" dirty="0">
                <a:solidFill>
                  <a:srgbClr val="5D6B82"/>
                </a:solidFill>
              </a:rPr>
              <a:t>Problem ownership matters more when AI can efficiently solve the wrong problem.</a:t>
            </a:r>
            <a:endParaRPr lang="en-US" sz="950" dirty="0"/>
          </a:p>
        </p:txBody>
      </p:sp>
      <p:sp>
        <p:nvSpPr>
          <p:cNvPr id="4" name="Shape 2"/>
          <p:cNvSpPr/>
          <p:nvPr/>
        </p:nvSpPr>
        <p:spPr>
          <a:xfrm>
            <a:off x="594360" y="1051560"/>
            <a:ext cx="10927080" cy="0"/>
          </a:xfrm>
          <a:prstGeom prst="line">
            <a:avLst/>
          </a:prstGeom>
          <a:noFill/>
          <a:ln w="12700">
            <a:solidFill>
              <a:srgbClr val="D8DEE9"/>
            </a:solidFill>
            <a:prstDash val="solid"/>
          </a:ln>
        </p:spPr>
      </p:sp>
      <p:sp>
        <p:nvSpPr>
          <p:cNvPr id="5" name="Text 3"/>
          <p:cNvSpPr/>
          <p:nvPr/>
        </p:nvSpPr>
        <p:spPr>
          <a:xfrm>
            <a:off x="822960" y="1417320"/>
            <a:ext cx="4754880" cy="2103120"/>
          </a:xfrm>
          <a:prstGeom prst="rect">
            <a:avLst/>
          </a:prstGeom>
          <a:solidFill>
            <a:srgbClr val="FFF7E8"/>
          </a:solidFill>
          <a:ln w="15240">
            <a:solidFill>
              <a:srgbClr val="F5A623"/>
            </a:solidFill>
          </a:ln>
        </p:spPr>
        <p:txBody>
          <a:bodyPr wrap="square" rtlCol="0" anchor="ctr">
            <a:normAutofit/>
          </a:bodyPr>
          <a:lstStyle/>
          <a:p>
            <a:pPr indent="0" marL="0">
              <a:buNone/>
            </a:pPr>
            <a:r>
              <a:rPr lang="en-US" sz="1450" b="1" dirty="0">
                <a:solidFill>
                  <a:srgbClr val="162033"/>
                </a:solidFill>
                <a:latin typeface="Aptos" pitchFamily="34" charset="0"/>
                <a:ea typeface="Aptos" pitchFamily="34" charset="-122"/>
                <a:cs typeface="Aptos" pitchFamily="34" charset="-120"/>
              </a:rPr>
              <a:t>4. Progress from task ownership to problem ownership, and build the taste to choose well.</a:t>
            </a:r>
            <a:endParaRPr lang="en-US" sz="1450" dirty="0"/>
          </a:p>
          <a:p>
            <a:pPr indent="0" marL="0">
              <a:buNone/>
            </a:pPr>
            <a:r>
              <a:rPr lang="en-US" sz="1450" dirty="0">
                <a:solidFill>
                  <a:srgbClr val="162033"/>
                </a:solidFill>
                <a:latin typeface="Aptos" pitchFamily="34" charset="0"/>
                <a:ea typeface="Aptos" pitchFamily="34" charset="-122"/>
                <a:cs typeface="Aptos" pitchFamily="34" charset="-120"/>
              </a:rPr>
              <a:t>Don't merely execute assigned work. Understand the domain deeply enough to identify what should be solved next, and learn to distinguish technically possible work from important work, promising hypotheses from noise, and meaningful results from misleading ones.</a:t>
            </a:r>
            <a:endParaRPr lang="en-US" sz="1450" dirty="0"/>
          </a:p>
        </p:txBody>
      </p:sp>
      <p:sp>
        <p:nvSpPr>
          <p:cNvPr id="6" name="Text 4"/>
          <p:cNvSpPr/>
          <p:nvPr/>
        </p:nvSpPr>
        <p:spPr>
          <a:xfrm>
            <a:off x="6400800" y="1783080"/>
            <a:ext cx="4480560" cy="685800"/>
          </a:xfrm>
          <a:prstGeom prst="rect">
            <a:avLst/>
          </a:prstGeom>
          <a:noFill/>
          <a:ln/>
        </p:spPr>
        <p:txBody>
          <a:bodyPr wrap="square" lIns="0" tIns="0" rIns="0" bIns="0" rtlCol="0" anchor="ctr"/>
          <a:lstStyle/>
          <a:p>
            <a:pPr algn="ctr" indent="0" marL="0">
              <a:buNone/>
            </a:pPr>
            <a:r>
              <a:rPr lang="en-US" sz="2600" b="1" dirty="0">
                <a:solidFill>
                  <a:srgbClr val="162033"/>
                </a:solidFill>
              </a:rPr>
              <a:t>“Does solving this problem really matter?”</a:t>
            </a:r>
            <a:endParaRPr lang="en-US" sz="2600" dirty="0"/>
          </a:p>
        </p:txBody>
      </p:sp>
      <p:sp>
        <p:nvSpPr>
          <p:cNvPr id="7" name="Text 5"/>
          <p:cNvSpPr/>
          <p:nvPr/>
        </p:nvSpPr>
        <p:spPr>
          <a:xfrm>
            <a:off x="6400800" y="2697480"/>
            <a:ext cx="4480560" cy="320040"/>
          </a:xfrm>
          <a:prstGeom prst="rect">
            <a:avLst/>
          </a:prstGeom>
          <a:noFill/>
          <a:ln/>
        </p:spPr>
        <p:txBody>
          <a:bodyPr wrap="square" lIns="0" tIns="0" rIns="0" bIns="0" rtlCol="0" anchor="ctr"/>
          <a:lstStyle/>
          <a:p>
            <a:pPr algn="ctr" indent="0" marL="0">
              <a:buNone/>
            </a:pPr>
            <a:r>
              <a:rPr lang="en-US" sz="1700" dirty="0">
                <a:solidFill>
                  <a:srgbClr val="5D6B82"/>
                </a:solidFill>
              </a:rPr>
              <a:t>Question the premise, not just the solution.</a:t>
            </a:r>
            <a:endParaRPr lang="en-US" sz="1700" dirty="0"/>
          </a:p>
        </p:txBody>
      </p:sp>
      <p:sp>
        <p:nvSpPr>
          <p:cNvPr id="8" name="Shape 6"/>
          <p:cNvSpPr/>
          <p:nvPr/>
        </p:nvSpPr>
        <p:spPr>
          <a:xfrm>
            <a:off x="6995160" y="3291840"/>
            <a:ext cx="3291840" cy="0"/>
          </a:xfrm>
          <a:prstGeom prst="line">
            <a:avLst/>
          </a:prstGeom>
          <a:noFill/>
          <a:ln w="25400">
            <a:solidFill>
              <a:srgbClr val="F5A623"/>
            </a:solidFill>
            <a:prstDash val="solid"/>
          </a:ln>
        </p:spPr>
      </p:sp>
      <p:sp>
        <p:nvSpPr>
          <p:cNvPr id="9" name="Text 7"/>
          <p:cNvSpPr/>
          <p:nvPr/>
        </p:nvSpPr>
        <p:spPr>
          <a:xfrm>
            <a:off x="960120" y="4709160"/>
            <a:ext cx="10241280" cy="822960"/>
          </a:xfrm>
          <a:prstGeom prst="rect">
            <a:avLst/>
          </a:prstGeom>
          <a:noFill/>
          <a:ln/>
        </p:spPr>
        <p:txBody>
          <a:bodyPr wrap="square" lIns="0" tIns="0" rIns="0" bIns="0" rtlCol="0" anchor="ctr"/>
          <a:lstStyle/>
          <a:p>
            <a:pPr algn="ctr" indent="0" marL="0">
              <a:buNone/>
            </a:pPr>
            <a:r>
              <a:rPr lang="en-US" sz="2100" b="1" dirty="0">
                <a:solidFill>
                  <a:srgbClr val="162033"/>
                </a:solidFill>
              </a:rPr>
              <a:t>Future judgment is built deliberately: break down AI failures, post-mortem edge cases, and test agent decisions against real-world domain constraints.</a:t>
            </a:r>
            <a:endParaRPr lang="en-US" sz="2100" dirty="0"/>
          </a:p>
        </p:txBody>
      </p:sp>
      <p:sp>
        <p:nvSpPr>
          <p:cNvPr id="10" name="Text 8"/>
          <p:cNvSpPr/>
          <p:nvPr/>
        </p:nvSpPr>
        <p:spPr>
          <a:xfrm>
            <a:off x="594360" y="6556248"/>
            <a:ext cx="4754880" cy="164592"/>
          </a:xfrm>
          <a:prstGeom prst="rect">
            <a:avLst/>
          </a:prstGeom>
          <a:noFill/>
          <a:ln/>
        </p:spPr>
        <p:txBody>
          <a:bodyPr wrap="square" lIns="0" tIns="0" rIns="0" bIns="0" rtlCol="0" anchor="ctr"/>
          <a:lstStyle/>
          <a:p>
            <a:pPr indent="0" marL="0">
              <a:buNone/>
            </a:pPr>
            <a:r>
              <a:rPr lang="en-US" sz="750" dirty="0">
                <a:solidFill>
                  <a:srgbClr val="8A98AA"/>
                </a:solidFill>
              </a:rPr>
              <a:t>Future Engineer &amp; Applied Researcher</a:t>
            </a:r>
            <a:endParaRPr lang="en-US" sz="750" dirty="0"/>
          </a:p>
        </p:txBody>
      </p:sp>
      <p:sp>
        <p:nvSpPr>
          <p:cNvPr id="11" name="Text 9"/>
          <p:cNvSpPr/>
          <p:nvPr/>
        </p:nvSpPr>
        <p:spPr>
          <a:xfrm>
            <a:off x="11201400" y="6556248"/>
            <a:ext cx="384048" cy="164592"/>
          </a:xfrm>
          <a:prstGeom prst="rect">
            <a:avLst/>
          </a:prstGeom>
          <a:noFill/>
          <a:ln/>
        </p:spPr>
        <p:txBody>
          <a:bodyPr wrap="square" lIns="0" tIns="0" rIns="0" bIns="0" rtlCol="0" anchor="ctr"/>
          <a:lstStyle/>
          <a:p>
            <a:pPr algn="r" indent="0" marL="0">
              <a:buNone/>
            </a:pPr>
            <a:r>
              <a:rPr lang="en-US" sz="750" dirty="0">
                <a:solidFill>
                  <a:srgbClr val="8A98AA"/>
                </a:solidFill>
              </a:rPr>
              <a:t>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20040"/>
            <a:ext cx="8778240" cy="384048"/>
          </a:xfrm>
          <a:prstGeom prst="rect">
            <a:avLst/>
          </a:prstGeom>
          <a:noFill/>
          <a:ln/>
        </p:spPr>
        <p:txBody>
          <a:bodyPr wrap="square" lIns="0" tIns="0" rIns="0" bIns="0" rtlCol="0" anchor="ctr"/>
          <a:lstStyle/>
          <a:p>
            <a:pPr indent="0" marL="0">
              <a:buNone/>
            </a:pPr>
            <a:r>
              <a:rPr lang="en-US" sz="2400" b="1" dirty="0">
                <a:solidFill>
                  <a:srgbClr val="162033"/>
                </a:solidFill>
                <a:latin typeface="Aptos Display" pitchFamily="34" charset="0"/>
                <a:ea typeface="Aptos Display" pitchFamily="34" charset="-122"/>
                <a:cs typeface="Aptos Display" pitchFamily="34" charset="-120"/>
              </a:rPr>
              <a:t>Scale intelligence</a:t>
            </a:r>
            <a:endParaRPr lang="en-US" sz="2400" dirty="0"/>
          </a:p>
        </p:txBody>
      </p:sp>
      <p:sp>
        <p:nvSpPr>
          <p:cNvPr id="3" name="Text 1"/>
          <p:cNvSpPr/>
          <p:nvPr/>
        </p:nvSpPr>
        <p:spPr>
          <a:xfrm>
            <a:off x="612648" y="768096"/>
            <a:ext cx="8138160" cy="228600"/>
          </a:xfrm>
          <a:prstGeom prst="rect">
            <a:avLst/>
          </a:prstGeom>
          <a:noFill/>
          <a:ln/>
        </p:spPr>
        <p:txBody>
          <a:bodyPr wrap="square" lIns="0" tIns="0" rIns="0" bIns="0" rtlCol="0" anchor="ctr"/>
          <a:lstStyle/>
          <a:p>
            <a:pPr indent="0" marL="0">
              <a:buNone/>
            </a:pPr>
            <a:r>
              <a:rPr lang="en-US" sz="950" dirty="0">
                <a:solidFill>
                  <a:srgbClr val="5D6B82"/>
                </a:solidFill>
              </a:rPr>
              <a:t>The role shifts from managing individual tasks to designing organizations of loops and agents.</a:t>
            </a:r>
            <a:endParaRPr lang="en-US" sz="950" dirty="0"/>
          </a:p>
        </p:txBody>
      </p:sp>
      <p:sp>
        <p:nvSpPr>
          <p:cNvPr id="4" name="Shape 2"/>
          <p:cNvSpPr/>
          <p:nvPr/>
        </p:nvSpPr>
        <p:spPr>
          <a:xfrm>
            <a:off x="594360" y="1051560"/>
            <a:ext cx="10927080" cy="0"/>
          </a:xfrm>
          <a:prstGeom prst="line">
            <a:avLst/>
          </a:prstGeom>
          <a:noFill/>
          <a:ln w="12700">
            <a:solidFill>
              <a:srgbClr val="D8DEE9"/>
            </a:solidFill>
            <a:prstDash val="solid"/>
          </a:ln>
        </p:spPr>
      </p:sp>
      <p:sp>
        <p:nvSpPr>
          <p:cNvPr id="5" name="Text 3"/>
          <p:cNvSpPr/>
          <p:nvPr/>
        </p:nvSpPr>
        <p:spPr>
          <a:xfrm>
            <a:off x="4709160" y="1325880"/>
            <a:ext cx="2606040" cy="411480"/>
          </a:xfrm>
          <a:prstGeom prst="rect">
            <a:avLst/>
          </a:prstGeom>
          <a:solidFill>
            <a:srgbClr val="FFFFFF"/>
          </a:solidFill>
          <a:ln w="15240">
            <a:solidFill>
              <a:srgbClr val="E55288"/>
            </a:solidFill>
          </a:ln>
        </p:spPr>
        <p:txBody>
          <a:bodyPr wrap="square" lIns="508" tIns="508" rIns="508" bIns="508" rtlCol="0" anchor="ctr"/>
          <a:lstStyle/>
          <a:p>
            <a:pPr algn="ctr" indent="0" marL="0">
              <a:buNone/>
            </a:pPr>
            <a:r>
              <a:rPr lang="en-US" sz="1500" b="1" dirty="0">
                <a:solidFill>
                  <a:srgbClr val="162033"/>
                </a:solidFill>
              </a:rPr>
              <a:t>Human objective</a:t>
            </a:r>
            <a:endParaRPr lang="en-US" sz="1500" dirty="0"/>
          </a:p>
        </p:txBody>
      </p:sp>
      <p:sp>
        <p:nvSpPr>
          <p:cNvPr id="6" name="Shape 4"/>
          <p:cNvSpPr/>
          <p:nvPr/>
        </p:nvSpPr>
        <p:spPr>
          <a:xfrm>
            <a:off x="6016752" y="1783080"/>
            <a:ext cx="0" cy="365760"/>
          </a:xfrm>
          <a:prstGeom prst="line">
            <a:avLst/>
          </a:prstGeom>
          <a:noFill/>
          <a:ln w="17780">
            <a:solidFill>
              <a:srgbClr val="8C99A7"/>
            </a:solidFill>
            <a:prstDash val="solid"/>
            <a:headEnd type="none"/>
            <a:tailEnd type="triangle"/>
          </a:ln>
        </p:spPr>
      </p:sp>
      <p:sp>
        <p:nvSpPr>
          <p:cNvPr id="7" name="Text 5"/>
          <p:cNvSpPr/>
          <p:nvPr/>
        </p:nvSpPr>
        <p:spPr>
          <a:xfrm>
            <a:off x="4828032" y="2194560"/>
            <a:ext cx="2377440" cy="411480"/>
          </a:xfrm>
          <a:prstGeom prst="rect">
            <a:avLst/>
          </a:prstGeom>
          <a:solidFill>
            <a:srgbClr val="FFF0F6"/>
          </a:solidFill>
          <a:ln w="15240">
            <a:solidFill>
              <a:srgbClr val="E55288"/>
            </a:solidFill>
          </a:ln>
        </p:spPr>
        <p:txBody>
          <a:bodyPr wrap="square" lIns="508" tIns="508" rIns="508" bIns="508" rtlCol="0" anchor="ctr"/>
          <a:lstStyle/>
          <a:p>
            <a:pPr algn="ctr" indent="0" marL="0">
              <a:buNone/>
            </a:pPr>
            <a:r>
              <a:rPr lang="en-US" sz="1500" b="1" dirty="0">
                <a:solidFill>
                  <a:srgbClr val="162033"/>
                </a:solidFill>
              </a:rPr>
              <a:t>Meta-loop</a:t>
            </a:r>
            <a:endParaRPr lang="en-US" sz="1500" dirty="0"/>
          </a:p>
        </p:txBody>
      </p:sp>
      <p:sp>
        <p:nvSpPr>
          <p:cNvPr id="8" name="Shape 6"/>
          <p:cNvSpPr/>
          <p:nvPr/>
        </p:nvSpPr>
        <p:spPr>
          <a:xfrm>
            <a:off x="6016752" y="2651760"/>
            <a:ext cx="-3044952" cy="594360"/>
          </a:xfrm>
          <a:prstGeom prst="line">
            <a:avLst/>
          </a:prstGeom>
          <a:noFill/>
          <a:ln w="17780">
            <a:solidFill>
              <a:srgbClr val="8C99A7"/>
            </a:solidFill>
            <a:prstDash val="solid"/>
            <a:headEnd type="none"/>
            <a:tailEnd type="triangle"/>
          </a:ln>
        </p:spPr>
      </p:sp>
      <p:sp>
        <p:nvSpPr>
          <p:cNvPr id="9" name="Text 7"/>
          <p:cNvSpPr/>
          <p:nvPr/>
        </p:nvSpPr>
        <p:spPr>
          <a:xfrm>
            <a:off x="1828800" y="3291840"/>
            <a:ext cx="2286000" cy="502920"/>
          </a:xfrm>
          <a:prstGeom prst="rect">
            <a:avLst/>
          </a:prstGeom>
          <a:solidFill>
            <a:srgbClr val="FFFFFF"/>
          </a:solidFill>
          <a:ln w="12700">
            <a:solidFill>
              <a:srgbClr val="BBC3CF"/>
            </a:solidFill>
          </a:ln>
        </p:spPr>
        <p:txBody>
          <a:bodyPr wrap="square" lIns="508" tIns="508" rIns="508" bIns="508" rtlCol="0" anchor="ctr"/>
          <a:lstStyle/>
          <a:p>
            <a:pPr algn="ctr" indent="0" marL="0">
              <a:buNone/>
            </a:pPr>
            <a:r>
              <a:rPr lang="en-US" sz="1400" b="1" dirty="0">
                <a:solidFill>
                  <a:srgbClr val="162033"/>
                </a:solidFill>
              </a:rPr>
              <a:t>Research loop</a:t>
            </a:r>
            <a:endParaRPr lang="en-US" sz="1400" dirty="0"/>
          </a:p>
        </p:txBody>
      </p:sp>
      <p:sp>
        <p:nvSpPr>
          <p:cNvPr id="10" name="Shape 8"/>
          <p:cNvSpPr/>
          <p:nvPr/>
        </p:nvSpPr>
        <p:spPr>
          <a:xfrm>
            <a:off x="6016752" y="2651760"/>
            <a:ext cx="-73152" cy="594360"/>
          </a:xfrm>
          <a:prstGeom prst="line">
            <a:avLst/>
          </a:prstGeom>
          <a:noFill/>
          <a:ln w="17780">
            <a:solidFill>
              <a:srgbClr val="8C99A7"/>
            </a:solidFill>
            <a:prstDash val="solid"/>
            <a:headEnd type="none"/>
            <a:tailEnd type="triangle"/>
          </a:ln>
        </p:spPr>
      </p:sp>
      <p:sp>
        <p:nvSpPr>
          <p:cNvPr id="11" name="Text 9"/>
          <p:cNvSpPr/>
          <p:nvPr/>
        </p:nvSpPr>
        <p:spPr>
          <a:xfrm>
            <a:off x="4800600" y="3291840"/>
            <a:ext cx="2286000" cy="502920"/>
          </a:xfrm>
          <a:prstGeom prst="rect">
            <a:avLst/>
          </a:prstGeom>
          <a:solidFill>
            <a:srgbClr val="FFFFFF"/>
          </a:solidFill>
          <a:ln w="12700">
            <a:solidFill>
              <a:srgbClr val="BBC3CF"/>
            </a:solidFill>
          </a:ln>
        </p:spPr>
        <p:txBody>
          <a:bodyPr wrap="square" lIns="508" tIns="508" rIns="508" bIns="508" rtlCol="0" anchor="ctr"/>
          <a:lstStyle/>
          <a:p>
            <a:pPr algn="ctr" indent="0" marL="0">
              <a:buNone/>
            </a:pPr>
            <a:r>
              <a:rPr lang="en-US" sz="1400" b="1" dirty="0">
                <a:solidFill>
                  <a:srgbClr val="162033"/>
                </a:solidFill>
              </a:rPr>
              <a:t>Engineering loop</a:t>
            </a:r>
            <a:endParaRPr lang="en-US" sz="1400" dirty="0"/>
          </a:p>
        </p:txBody>
      </p:sp>
      <p:sp>
        <p:nvSpPr>
          <p:cNvPr id="12" name="Shape 10"/>
          <p:cNvSpPr/>
          <p:nvPr/>
        </p:nvSpPr>
        <p:spPr>
          <a:xfrm>
            <a:off x="6016752" y="2651760"/>
            <a:ext cx="2898648" cy="594360"/>
          </a:xfrm>
          <a:prstGeom prst="line">
            <a:avLst/>
          </a:prstGeom>
          <a:noFill/>
          <a:ln w="17780">
            <a:solidFill>
              <a:srgbClr val="8C99A7"/>
            </a:solidFill>
            <a:prstDash val="solid"/>
            <a:headEnd type="none"/>
            <a:tailEnd type="triangle"/>
          </a:ln>
        </p:spPr>
      </p:sp>
      <p:sp>
        <p:nvSpPr>
          <p:cNvPr id="13" name="Text 11"/>
          <p:cNvSpPr/>
          <p:nvPr/>
        </p:nvSpPr>
        <p:spPr>
          <a:xfrm>
            <a:off x="7772400" y="3291840"/>
            <a:ext cx="2286000" cy="502920"/>
          </a:xfrm>
          <a:prstGeom prst="rect">
            <a:avLst/>
          </a:prstGeom>
          <a:solidFill>
            <a:srgbClr val="FFFFFF"/>
          </a:solidFill>
          <a:ln w="12700">
            <a:solidFill>
              <a:srgbClr val="BBC3CF"/>
            </a:solidFill>
          </a:ln>
        </p:spPr>
        <p:txBody>
          <a:bodyPr wrap="square" lIns="508" tIns="508" rIns="508" bIns="508" rtlCol="0" anchor="ctr"/>
          <a:lstStyle/>
          <a:p>
            <a:pPr algn="ctr" indent="0" marL="0">
              <a:buNone/>
            </a:pPr>
            <a:r>
              <a:rPr lang="en-US" sz="1400" b="1" dirty="0">
                <a:solidFill>
                  <a:srgbClr val="162033"/>
                </a:solidFill>
              </a:rPr>
              <a:t>Eval loop</a:t>
            </a:r>
            <a:endParaRPr lang="en-US" sz="1400" dirty="0"/>
          </a:p>
        </p:txBody>
      </p:sp>
      <p:sp>
        <p:nvSpPr>
          <p:cNvPr id="14" name="Text 12"/>
          <p:cNvSpPr/>
          <p:nvPr/>
        </p:nvSpPr>
        <p:spPr>
          <a:xfrm>
            <a:off x="4279392" y="4434840"/>
            <a:ext cx="3566160" cy="438912"/>
          </a:xfrm>
          <a:prstGeom prst="rect">
            <a:avLst/>
          </a:prstGeom>
          <a:solidFill>
            <a:srgbClr val="F0F6FF"/>
          </a:solidFill>
          <a:ln w="13970">
            <a:solidFill>
              <a:srgbClr val="2E6BFF"/>
            </a:solidFill>
          </a:ln>
        </p:spPr>
        <p:txBody>
          <a:bodyPr wrap="square" lIns="508" tIns="508" rIns="508" bIns="508" rtlCol="0" anchor="ctr"/>
          <a:lstStyle/>
          <a:p>
            <a:pPr algn="ctr" indent="0" marL="0">
              <a:buNone/>
            </a:pPr>
            <a:r>
              <a:rPr lang="en-US" sz="1700" b="1" dirty="0">
                <a:solidFill>
                  <a:srgbClr val="2E6BFF"/>
                </a:solidFill>
              </a:rPr>
              <a:t>Evidence → decision</a:t>
            </a:r>
            <a:endParaRPr lang="en-US" sz="1700" dirty="0"/>
          </a:p>
        </p:txBody>
      </p:sp>
      <p:sp>
        <p:nvSpPr>
          <p:cNvPr id="15" name="Shape 13"/>
          <p:cNvSpPr/>
          <p:nvPr/>
        </p:nvSpPr>
        <p:spPr>
          <a:xfrm>
            <a:off x="2971800" y="3840480"/>
            <a:ext cx="3044952" cy="548640"/>
          </a:xfrm>
          <a:prstGeom prst="line">
            <a:avLst/>
          </a:prstGeom>
          <a:noFill/>
          <a:ln w="17780">
            <a:solidFill>
              <a:srgbClr val="8C99A7"/>
            </a:solidFill>
            <a:prstDash val="solid"/>
            <a:headEnd type="none"/>
            <a:tailEnd type="triangle"/>
          </a:ln>
        </p:spPr>
      </p:sp>
      <p:sp>
        <p:nvSpPr>
          <p:cNvPr id="16" name="Shape 14"/>
          <p:cNvSpPr/>
          <p:nvPr/>
        </p:nvSpPr>
        <p:spPr>
          <a:xfrm>
            <a:off x="5943600" y="3840480"/>
            <a:ext cx="73152" cy="548640"/>
          </a:xfrm>
          <a:prstGeom prst="line">
            <a:avLst/>
          </a:prstGeom>
          <a:noFill/>
          <a:ln w="17780">
            <a:solidFill>
              <a:srgbClr val="8C99A7"/>
            </a:solidFill>
            <a:prstDash val="solid"/>
            <a:headEnd type="none"/>
            <a:tailEnd type="triangle"/>
          </a:ln>
        </p:spPr>
      </p:sp>
      <p:sp>
        <p:nvSpPr>
          <p:cNvPr id="17" name="Shape 15"/>
          <p:cNvSpPr/>
          <p:nvPr/>
        </p:nvSpPr>
        <p:spPr>
          <a:xfrm>
            <a:off x="8915400" y="3840480"/>
            <a:ext cx="-2898648" cy="548640"/>
          </a:xfrm>
          <a:prstGeom prst="line">
            <a:avLst/>
          </a:prstGeom>
          <a:noFill/>
          <a:ln w="17780">
            <a:solidFill>
              <a:srgbClr val="8C99A7"/>
            </a:solidFill>
            <a:prstDash val="solid"/>
            <a:headEnd type="none"/>
            <a:tailEnd type="triangle"/>
          </a:ln>
        </p:spPr>
      </p:sp>
      <p:sp>
        <p:nvSpPr>
          <p:cNvPr id="18" name="Text 16"/>
          <p:cNvSpPr/>
          <p:nvPr/>
        </p:nvSpPr>
        <p:spPr>
          <a:xfrm>
            <a:off x="822960" y="5257800"/>
            <a:ext cx="10515600" cy="292608"/>
          </a:xfrm>
          <a:prstGeom prst="rect">
            <a:avLst/>
          </a:prstGeom>
          <a:noFill/>
          <a:ln/>
        </p:spPr>
        <p:txBody>
          <a:bodyPr wrap="square" lIns="0" tIns="0" rIns="0" bIns="0" rtlCol="0" anchor="ctr"/>
          <a:lstStyle/>
          <a:p>
            <a:pPr algn="ctr" indent="0" marL="0">
              <a:buNone/>
            </a:pPr>
            <a:r>
              <a:rPr lang="en-US" sz="1900" b="1" dirty="0">
                <a:solidFill>
                  <a:srgbClr val="162033"/>
                </a:solidFill>
              </a:rPr>
              <a:t>5. Design organizations of agents, and allocate their intelligence well.</a:t>
            </a:r>
            <a:endParaRPr lang="en-US" sz="1900" dirty="0"/>
          </a:p>
        </p:txBody>
      </p:sp>
      <p:sp>
        <p:nvSpPr>
          <p:cNvPr id="19" name="Text 17"/>
          <p:cNvSpPr/>
          <p:nvPr/>
        </p:nvSpPr>
        <p:spPr>
          <a:xfrm>
            <a:off x="914400" y="5650992"/>
            <a:ext cx="10332720" cy="411480"/>
          </a:xfrm>
          <a:prstGeom prst="rect">
            <a:avLst/>
          </a:prstGeom>
          <a:noFill/>
          <a:ln/>
        </p:spPr>
        <p:txBody>
          <a:bodyPr wrap="square" lIns="0" tIns="0" rIns="0" bIns="0" rtlCol="0" anchor="ctr"/>
          <a:lstStyle/>
          <a:p>
            <a:pPr algn="ctr" indent="0" marL="0">
              <a:buNone/>
            </a:pPr>
            <a:r>
              <a:rPr lang="en-US" sz="1450" dirty="0">
                <a:solidFill>
                  <a:srgbClr val="5D6B82"/>
                </a:solidFill>
              </a:rPr>
              <a:t>Don’t manage thousands of agents one by one; design abstractions that decompose work, aggregate evidence, resolve disagreements, and maintain quality at scale.</a:t>
            </a:r>
            <a:endParaRPr lang="en-US" sz="1450" dirty="0"/>
          </a:p>
        </p:txBody>
      </p:sp>
      <p:sp>
        <p:nvSpPr>
          <p:cNvPr id="20" name="Text 18"/>
          <p:cNvSpPr/>
          <p:nvPr/>
        </p:nvSpPr>
        <p:spPr>
          <a:xfrm>
            <a:off x="594360" y="6556248"/>
            <a:ext cx="4754880" cy="164592"/>
          </a:xfrm>
          <a:prstGeom prst="rect">
            <a:avLst/>
          </a:prstGeom>
          <a:noFill/>
          <a:ln/>
        </p:spPr>
        <p:txBody>
          <a:bodyPr wrap="square" lIns="0" tIns="0" rIns="0" bIns="0" rtlCol="0" anchor="ctr"/>
          <a:lstStyle/>
          <a:p>
            <a:pPr indent="0" marL="0">
              <a:buNone/>
            </a:pPr>
            <a:r>
              <a:rPr lang="en-US" sz="750" dirty="0">
                <a:solidFill>
                  <a:srgbClr val="8A98AA"/>
                </a:solidFill>
              </a:rPr>
              <a:t>Future Engineer &amp; Applied Researcher</a:t>
            </a:r>
            <a:endParaRPr lang="en-US" sz="750" dirty="0"/>
          </a:p>
        </p:txBody>
      </p:sp>
      <p:sp>
        <p:nvSpPr>
          <p:cNvPr id="21" name="Text 19"/>
          <p:cNvSpPr/>
          <p:nvPr/>
        </p:nvSpPr>
        <p:spPr>
          <a:xfrm>
            <a:off x="11201400" y="6556248"/>
            <a:ext cx="384048" cy="164592"/>
          </a:xfrm>
          <a:prstGeom prst="rect">
            <a:avLst/>
          </a:prstGeom>
          <a:noFill/>
          <a:ln/>
        </p:spPr>
        <p:txBody>
          <a:bodyPr wrap="square" lIns="0" tIns="0" rIns="0" bIns="0" rtlCol="0" anchor="ctr"/>
          <a:lstStyle/>
          <a:p>
            <a:pPr algn="r" indent="0" marL="0">
              <a:buNone/>
            </a:pPr>
            <a:r>
              <a:rPr lang="en-US" sz="750" dirty="0">
                <a:solidFill>
                  <a:srgbClr val="8A98AA"/>
                </a:solidFill>
              </a:rPr>
              <a:t>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20040"/>
            <a:ext cx="8778240" cy="384048"/>
          </a:xfrm>
          <a:prstGeom prst="rect">
            <a:avLst/>
          </a:prstGeom>
          <a:noFill/>
          <a:ln/>
        </p:spPr>
        <p:txBody>
          <a:bodyPr wrap="square" lIns="0" tIns="0" rIns="0" bIns="0" rtlCol="0" anchor="ctr"/>
          <a:lstStyle/>
          <a:p>
            <a:pPr indent="0" marL="0">
              <a:buNone/>
            </a:pPr>
            <a:r>
              <a:rPr lang="en-US" sz="2400" b="1" dirty="0">
                <a:solidFill>
                  <a:srgbClr val="162033"/>
                </a:solidFill>
                <a:latin typeface="Aptos Display" pitchFamily="34" charset="0"/>
                <a:ea typeface="Aptos Display" pitchFamily="34" charset="-122"/>
                <a:cs typeface="Aptos Display" pitchFamily="34" charset="-120"/>
              </a:rPr>
              <a:t>Communicate with precision</a:t>
            </a:r>
            <a:endParaRPr lang="en-US" sz="2400" dirty="0"/>
          </a:p>
        </p:txBody>
      </p:sp>
      <p:sp>
        <p:nvSpPr>
          <p:cNvPr id="3" name="Text 1"/>
          <p:cNvSpPr/>
          <p:nvPr/>
        </p:nvSpPr>
        <p:spPr>
          <a:xfrm>
            <a:off x="612648" y="768096"/>
            <a:ext cx="8138160" cy="228600"/>
          </a:xfrm>
          <a:prstGeom prst="rect">
            <a:avLst/>
          </a:prstGeom>
          <a:noFill/>
          <a:ln/>
        </p:spPr>
        <p:txBody>
          <a:bodyPr wrap="square" lIns="0" tIns="0" rIns="0" bIns="0" rtlCol="0" anchor="ctr"/>
          <a:lstStyle/>
          <a:p>
            <a:pPr indent="0" marL="0">
              <a:buNone/>
            </a:pPr>
            <a:r>
              <a:rPr lang="en-US" sz="950" dirty="0">
                <a:solidFill>
                  <a:srgbClr val="5D6B82"/>
                </a:solidFill>
              </a:rPr>
              <a:t>When execution is cheap and fast, ambiguity becomes expensive.</a:t>
            </a:r>
            <a:endParaRPr lang="en-US" sz="950" dirty="0"/>
          </a:p>
        </p:txBody>
      </p:sp>
      <p:sp>
        <p:nvSpPr>
          <p:cNvPr id="4" name="Shape 2"/>
          <p:cNvSpPr/>
          <p:nvPr/>
        </p:nvSpPr>
        <p:spPr>
          <a:xfrm>
            <a:off x="594360" y="1051560"/>
            <a:ext cx="10927080" cy="0"/>
          </a:xfrm>
          <a:prstGeom prst="line">
            <a:avLst/>
          </a:prstGeom>
          <a:noFill/>
          <a:ln w="12700">
            <a:solidFill>
              <a:srgbClr val="D8DEE9"/>
            </a:solidFill>
            <a:prstDash val="solid"/>
          </a:ln>
        </p:spPr>
      </p:sp>
      <p:sp>
        <p:nvSpPr>
          <p:cNvPr id="5" name="Text 3"/>
          <p:cNvSpPr/>
          <p:nvPr/>
        </p:nvSpPr>
        <p:spPr>
          <a:xfrm>
            <a:off x="914400" y="1828800"/>
            <a:ext cx="2057400" cy="1097280"/>
          </a:xfrm>
          <a:prstGeom prst="rect">
            <a:avLst/>
          </a:prstGeom>
          <a:solidFill>
            <a:srgbClr val="EFFFF6"/>
          </a:solidFill>
          <a:ln w="15240">
            <a:solidFill>
              <a:srgbClr val="27A96B"/>
            </a:solidFill>
          </a:ln>
        </p:spPr>
        <p:txBody>
          <a:bodyPr wrap="square" rtlCol="0" anchor="ctr">
            <a:normAutofit/>
          </a:bodyPr>
          <a:lstStyle/>
          <a:p>
            <a:pPr indent="0" marL="0">
              <a:buNone/>
            </a:pPr>
            <a:r>
              <a:rPr lang="en-US" sz="1400" b="1" dirty="0">
                <a:solidFill>
                  <a:srgbClr val="162033"/>
                </a:solidFill>
                <a:latin typeface="Aptos" pitchFamily="34" charset="0"/>
                <a:ea typeface="Aptos" pitchFamily="34" charset="-122"/>
                <a:cs typeface="Aptos" pitchFamily="34" charset="-120"/>
              </a:rPr>
              <a:t>Intent</a:t>
            </a:r>
            <a:endParaRPr lang="en-US" sz="1400" dirty="0"/>
          </a:p>
          <a:p>
            <a:pPr indent="0" marL="0">
              <a:buNone/>
            </a:pPr>
            <a:r>
              <a:rPr lang="en-US" sz="1400" dirty="0">
                <a:solidFill>
                  <a:srgbClr val="162033"/>
                </a:solidFill>
                <a:latin typeface="Aptos" pitchFamily="34" charset="0"/>
                <a:ea typeface="Aptos" pitchFamily="34" charset="-122"/>
                <a:cs typeface="Aptos" pitchFamily="34" charset="-120"/>
              </a:rPr>
              <a:t>What outcome matters?</a:t>
            </a:r>
            <a:endParaRPr lang="en-US" sz="1400" dirty="0"/>
          </a:p>
        </p:txBody>
      </p:sp>
      <p:sp>
        <p:nvSpPr>
          <p:cNvPr id="6" name="Shape 4"/>
          <p:cNvSpPr/>
          <p:nvPr/>
        </p:nvSpPr>
        <p:spPr>
          <a:xfrm>
            <a:off x="3063240" y="2377440"/>
            <a:ext cx="438912" cy="0"/>
          </a:xfrm>
          <a:prstGeom prst="line">
            <a:avLst/>
          </a:prstGeom>
          <a:noFill/>
          <a:ln w="17780">
            <a:solidFill>
              <a:srgbClr val="8C99A7"/>
            </a:solidFill>
            <a:prstDash val="solid"/>
            <a:headEnd type="none"/>
            <a:tailEnd type="triangle"/>
          </a:ln>
        </p:spPr>
      </p:sp>
      <p:sp>
        <p:nvSpPr>
          <p:cNvPr id="7" name="Text 5"/>
          <p:cNvSpPr/>
          <p:nvPr/>
        </p:nvSpPr>
        <p:spPr>
          <a:xfrm>
            <a:off x="3657600" y="1828800"/>
            <a:ext cx="2057400" cy="1097280"/>
          </a:xfrm>
          <a:prstGeom prst="rect">
            <a:avLst/>
          </a:prstGeom>
          <a:solidFill>
            <a:srgbClr val="EFFFF6"/>
          </a:solidFill>
          <a:ln w="15240">
            <a:solidFill>
              <a:srgbClr val="27A96B"/>
            </a:solidFill>
          </a:ln>
        </p:spPr>
        <p:txBody>
          <a:bodyPr wrap="square" rtlCol="0" anchor="ctr">
            <a:normAutofit/>
          </a:bodyPr>
          <a:lstStyle/>
          <a:p>
            <a:pPr indent="0" marL="0">
              <a:buNone/>
            </a:pPr>
            <a:r>
              <a:rPr lang="en-US" sz="1400" b="1" dirty="0">
                <a:solidFill>
                  <a:srgbClr val="162033"/>
                </a:solidFill>
                <a:latin typeface="Aptos" pitchFamily="34" charset="0"/>
                <a:ea typeface="Aptos" pitchFamily="34" charset="-122"/>
                <a:cs typeface="Aptos" pitchFamily="34" charset="-120"/>
              </a:rPr>
              <a:t>Constraints</a:t>
            </a:r>
            <a:endParaRPr lang="en-US" sz="1400" dirty="0"/>
          </a:p>
          <a:p>
            <a:pPr indent="0" marL="0">
              <a:buNone/>
            </a:pPr>
            <a:r>
              <a:rPr lang="en-US" sz="1400" dirty="0">
                <a:solidFill>
                  <a:srgbClr val="162033"/>
                </a:solidFill>
                <a:latin typeface="Aptos" pitchFamily="34" charset="0"/>
                <a:ea typeface="Aptos" pitchFamily="34" charset="-122"/>
                <a:cs typeface="Aptos" pitchFamily="34" charset="-120"/>
              </a:rPr>
              <a:t>What must be respected?</a:t>
            </a:r>
            <a:endParaRPr lang="en-US" sz="1400" dirty="0"/>
          </a:p>
        </p:txBody>
      </p:sp>
      <p:sp>
        <p:nvSpPr>
          <p:cNvPr id="8" name="Shape 6"/>
          <p:cNvSpPr/>
          <p:nvPr/>
        </p:nvSpPr>
        <p:spPr>
          <a:xfrm>
            <a:off x="5806440" y="2377440"/>
            <a:ext cx="438912" cy="0"/>
          </a:xfrm>
          <a:prstGeom prst="line">
            <a:avLst/>
          </a:prstGeom>
          <a:noFill/>
          <a:ln w="17780">
            <a:solidFill>
              <a:srgbClr val="8C99A7"/>
            </a:solidFill>
            <a:prstDash val="solid"/>
            <a:headEnd type="none"/>
            <a:tailEnd type="triangle"/>
          </a:ln>
        </p:spPr>
      </p:sp>
      <p:sp>
        <p:nvSpPr>
          <p:cNvPr id="9" name="Text 7"/>
          <p:cNvSpPr/>
          <p:nvPr/>
        </p:nvSpPr>
        <p:spPr>
          <a:xfrm>
            <a:off x="6400800" y="1828800"/>
            <a:ext cx="2057400" cy="1097280"/>
          </a:xfrm>
          <a:prstGeom prst="rect">
            <a:avLst/>
          </a:prstGeom>
          <a:solidFill>
            <a:srgbClr val="EFFFF6"/>
          </a:solidFill>
          <a:ln w="15240">
            <a:solidFill>
              <a:srgbClr val="27A96B"/>
            </a:solidFill>
          </a:ln>
        </p:spPr>
        <p:txBody>
          <a:bodyPr wrap="square" rtlCol="0" anchor="ctr">
            <a:normAutofit/>
          </a:bodyPr>
          <a:lstStyle/>
          <a:p>
            <a:pPr indent="0" marL="0">
              <a:buNone/>
            </a:pPr>
            <a:r>
              <a:rPr lang="en-US" sz="1400" b="1" dirty="0">
                <a:solidFill>
                  <a:srgbClr val="162033"/>
                </a:solidFill>
                <a:latin typeface="Aptos" pitchFamily="34" charset="0"/>
                <a:ea typeface="Aptos" pitchFamily="34" charset="-122"/>
                <a:cs typeface="Aptos" pitchFamily="34" charset="-120"/>
              </a:rPr>
              <a:t>Tradeoffs</a:t>
            </a:r>
            <a:endParaRPr lang="en-US" sz="1400" dirty="0"/>
          </a:p>
          <a:p>
            <a:pPr indent="0" marL="0">
              <a:buNone/>
            </a:pPr>
            <a:r>
              <a:rPr lang="en-US" sz="1400" dirty="0">
                <a:solidFill>
                  <a:srgbClr val="162033"/>
                </a:solidFill>
                <a:latin typeface="Aptos" pitchFamily="34" charset="0"/>
                <a:ea typeface="Aptos" pitchFamily="34" charset="-122"/>
                <a:cs typeface="Aptos" pitchFamily="34" charset="-120"/>
              </a:rPr>
              <a:t>What should be optimized?</a:t>
            </a:r>
            <a:endParaRPr lang="en-US" sz="1400" dirty="0"/>
          </a:p>
        </p:txBody>
      </p:sp>
      <p:sp>
        <p:nvSpPr>
          <p:cNvPr id="10" name="Shape 8"/>
          <p:cNvSpPr/>
          <p:nvPr/>
        </p:nvSpPr>
        <p:spPr>
          <a:xfrm>
            <a:off x="8549640" y="2377440"/>
            <a:ext cx="438912" cy="0"/>
          </a:xfrm>
          <a:prstGeom prst="line">
            <a:avLst/>
          </a:prstGeom>
          <a:noFill/>
          <a:ln w="17780">
            <a:solidFill>
              <a:srgbClr val="8C99A7"/>
            </a:solidFill>
            <a:prstDash val="solid"/>
            <a:headEnd type="none"/>
            <a:tailEnd type="triangle"/>
          </a:ln>
        </p:spPr>
      </p:sp>
      <p:sp>
        <p:nvSpPr>
          <p:cNvPr id="11" name="Text 9"/>
          <p:cNvSpPr/>
          <p:nvPr/>
        </p:nvSpPr>
        <p:spPr>
          <a:xfrm>
            <a:off x="9144000" y="1828800"/>
            <a:ext cx="2057400" cy="1097280"/>
          </a:xfrm>
          <a:prstGeom prst="rect">
            <a:avLst/>
          </a:prstGeom>
          <a:solidFill>
            <a:srgbClr val="EFFFF6"/>
          </a:solidFill>
          <a:ln w="15240">
            <a:solidFill>
              <a:srgbClr val="27A96B"/>
            </a:solidFill>
          </a:ln>
        </p:spPr>
        <p:txBody>
          <a:bodyPr wrap="square" rtlCol="0" anchor="ctr">
            <a:normAutofit/>
          </a:bodyPr>
          <a:lstStyle/>
          <a:p>
            <a:pPr indent="0" marL="0">
              <a:buNone/>
            </a:pPr>
            <a:r>
              <a:rPr lang="en-US" sz="1400" b="1" dirty="0">
                <a:solidFill>
                  <a:srgbClr val="162033"/>
                </a:solidFill>
                <a:latin typeface="Aptos" pitchFamily="34" charset="0"/>
                <a:ea typeface="Aptos" pitchFamily="34" charset="-122"/>
                <a:cs typeface="Aptos" pitchFamily="34" charset="-120"/>
              </a:rPr>
              <a:t>Success criteria</a:t>
            </a:r>
            <a:endParaRPr lang="en-US" sz="1400" dirty="0"/>
          </a:p>
          <a:p>
            <a:pPr indent="0" marL="0">
              <a:buNone/>
            </a:pPr>
            <a:r>
              <a:rPr lang="en-US" sz="1400" dirty="0">
                <a:solidFill>
                  <a:srgbClr val="162033"/>
                </a:solidFill>
                <a:latin typeface="Aptos" pitchFamily="34" charset="0"/>
                <a:ea typeface="Aptos" pitchFamily="34" charset="-122"/>
                <a:cs typeface="Aptos" pitchFamily="34" charset="-120"/>
              </a:rPr>
              <a:t>How will we know?</a:t>
            </a:r>
            <a:endParaRPr lang="en-US" sz="1400" dirty="0"/>
          </a:p>
        </p:txBody>
      </p:sp>
      <p:sp>
        <p:nvSpPr>
          <p:cNvPr id="12" name="Text 10"/>
          <p:cNvSpPr/>
          <p:nvPr/>
        </p:nvSpPr>
        <p:spPr>
          <a:xfrm>
            <a:off x="960120" y="3886200"/>
            <a:ext cx="10241280" cy="320040"/>
          </a:xfrm>
          <a:prstGeom prst="rect">
            <a:avLst/>
          </a:prstGeom>
          <a:noFill/>
          <a:ln/>
        </p:spPr>
        <p:txBody>
          <a:bodyPr wrap="square" lIns="0" tIns="0" rIns="0" bIns="0" rtlCol="0" anchor="ctr"/>
          <a:lstStyle/>
          <a:p>
            <a:pPr algn="ctr" indent="0" marL="0">
              <a:buNone/>
            </a:pPr>
            <a:r>
              <a:rPr lang="en-US" sz="2200" b="1" dirty="0">
                <a:solidFill>
                  <a:srgbClr val="162033"/>
                </a:solidFill>
              </a:rPr>
              <a:t>6. Polish communication skills.</a:t>
            </a:r>
            <a:endParaRPr lang="en-US" sz="2200" dirty="0"/>
          </a:p>
        </p:txBody>
      </p:sp>
      <p:sp>
        <p:nvSpPr>
          <p:cNvPr id="13" name="Text 11"/>
          <p:cNvSpPr/>
          <p:nvPr/>
        </p:nvSpPr>
        <p:spPr>
          <a:xfrm>
            <a:off x="1051560" y="4370832"/>
            <a:ext cx="10058400" cy="502920"/>
          </a:xfrm>
          <a:prstGeom prst="rect">
            <a:avLst/>
          </a:prstGeom>
          <a:noFill/>
          <a:ln/>
        </p:spPr>
        <p:txBody>
          <a:bodyPr wrap="square" lIns="0" tIns="0" rIns="0" bIns="0" rtlCol="0" anchor="ctr"/>
          <a:lstStyle/>
          <a:p>
            <a:pPr algn="ctr" indent="0" marL="0">
              <a:buNone/>
            </a:pPr>
            <a:r>
              <a:rPr lang="en-US" sz="1800" dirty="0">
                <a:solidFill>
                  <a:srgbClr val="5D6B82"/>
                </a:solidFill>
              </a:rPr>
              <a:t>Human-human communication and human-AI system communication will become more critical as execution becomes cheap and fast.</a:t>
            </a:r>
            <a:endParaRPr lang="en-US" sz="1800" dirty="0"/>
          </a:p>
        </p:txBody>
      </p:sp>
      <p:sp>
        <p:nvSpPr>
          <p:cNvPr id="14" name="Text 12"/>
          <p:cNvSpPr/>
          <p:nvPr/>
        </p:nvSpPr>
        <p:spPr>
          <a:xfrm>
            <a:off x="1188720" y="5349240"/>
            <a:ext cx="9784080" cy="457200"/>
          </a:xfrm>
          <a:prstGeom prst="rect">
            <a:avLst/>
          </a:prstGeom>
          <a:noFill/>
          <a:ln/>
        </p:spPr>
        <p:txBody>
          <a:bodyPr wrap="square" lIns="0" tIns="0" rIns="0" bIns="0" rtlCol="0" anchor="ctr"/>
          <a:lstStyle/>
          <a:p>
            <a:pPr algn="ctr" indent="0" marL="0">
              <a:buNone/>
            </a:pPr>
            <a:r>
              <a:rPr lang="en-US" sz="1900" b="1" dirty="0">
                <a:solidFill>
                  <a:srgbClr val="162033"/>
                </a:solidFill>
              </a:rPr>
              <a:t>A precise specification can direct far more work than one person could implement manually.</a:t>
            </a:r>
            <a:endParaRPr lang="en-US" sz="1900" dirty="0"/>
          </a:p>
        </p:txBody>
      </p:sp>
      <p:sp>
        <p:nvSpPr>
          <p:cNvPr id="15" name="Text 13"/>
          <p:cNvSpPr/>
          <p:nvPr/>
        </p:nvSpPr>
        <p:spPr>
          <a:xfrm>
            <a:off x="594360" y="6556248"/>
            <a:ext cx="4754880" cy="164592"/>
          </a:xfrm>
          <a:prstGeom prst="rect">
            <a:avLst/>
          </a:prstGeom>
          <a:noFill/>
          <a:ln/>
        </p:spPr>
        <p:txBody>
          <a:bodyPr wrap="square" lIns="0" tIns="0" rIns="0" bIns="0" rtlCol="0" anchor="ctr"/>
          <a:lstStyle/>
          <a:p>
            <a:pPr indent="0" marL="0">
              <a:buNone/>
            </a:pPr>
            <a:r>
              <a:rPr lang="en-US" sz="750" dirty="0">
                <a:solidFill>
                  <a:srgbClr val="8A98AA"/>
                </a:solidFill>
              </a:rPr>
              <a:t>Future Engineer &amp; Applied Researcher</a:t>
            </a:r>
            <a:endParaRPr lang="en-US" sz="750" dirty="0"/>
          </a:p>
        </p:txBody>
      </p:sp>
      <p:sp>
        <p:nvSpPr>
          <p:cNvPr id="16" name="Text 14"/>
          <p:cNvSpPr/>
          <p:nvPr/>
        </p:nvSpPr>
        <p:spPr>
          <a:xfrm>
            <a:off x="11201400" y="6556248"/>
            <a:ext cx="384048" cy="164592"/>
          </a:xfrm>
          <a:prstGeom prst="rect">
            <a:avLst/>
          </a:prstGeom>
          <a:noFill/>
          <a:ln/>
        </p:spPr>
        <p:txBody>
          <a:bodyPr wrap="square" lIns="0" tIns="0" rIns="0" bIns="0" rtlCol="0" anchor="ctr"/>
          <a:lstStyle/>
          <a:p>
            <a:pPr algn="r" indent="0" marL="0">
              <a:buNone/>
            </a:pPr>
            <a:r>
              <a:rPr lang="en-US" sz="750" dirty="0">
                <a:solidFill>
                  <a:srgbClr val="8A98AA"/>
                </a:solidFill>
              </a:rPr>
              <a:t>07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94360" y="320040"/>
            <a:ext cx="8778240" cy="384048"/>
          </a:xfrm>
          <a:prstGeom prst="rect">
            <a:avLst/>
          </a:prstGeom>
          <a:noFill/>
          <a:ln/>
        </p:spPr>
        <p:txBody>
          <a:bodyPr wrap="square" lIns="0" tIns="0" rIns="0" bIns="0" rtlCol="0" anchor="ctr"/>
          <a:lstStyle/>
          <a:p>
            <a:pPr indent="0" marL="0">
              <a:buNone/>
            </a:pPr>
            <a:r>
              <a:rPr lang="en-US" sz="2400" b="1" dirty="0">
                <a:solidFill>
                  <a:srgbClr val="162033"/>
                </a:solidFill>
                <a:latin typeface="Aptos Display" pitchFamily="34" charset="0"/>
                <a:ea typeface="Aptos Display" pitchFamily="34" charset="-122"/>
                <a:cs typeface="Aptos Display" pitchFamily="34" charset="-120"/>
              </a:rPr>
              <a:t>Preserve your own learning loop</a:t>
            </a:r>
            <a:endParaRPr lang="en-US" sz="2400" dirty="0"/>
          </a:p>
        </p:txBody>
      </p:sp>
      <p:sp>
        <p:nvSpPr>
          <p:cNvPr id="3" name="Text 1"/>
          <p:cNvSpPr/>
          <p:nvPr/>
        </p:nvSpPr>
        <p:spPr>
          <a:xfrm>
            <a:off x="612648" y="768096"/>
            <a:ext cx="8138160" cy="228600"/>
          </a:xfrm>
          <a:prstGeom prst="rect">
            <a:avLst/>
          </a:prstGeom>
          <a:noFill/>
          <a:ln/>
        </p:spPr>
        <p:txBody>
          <a:bodyPr wrap="square" lIns="0" tIns="0" rIns="0" bIns="0" rtlCol="0" anchor="ctr"/>
          <a:lstStyle/>
          <a:p>
            <a:pPr indent="0" marL="0">
              <a:buNone/>
            </a:pPr>
            <a:r>
              <a:rPr lang="en-US" sz="950" dirty="0">
                <a:solidFill>
                  <a:srgbClr val="5D6B82"/>
                </a:solidFill>
              </a:rPr>
              <a:t>Use AI aggressively, but do not outsource understanding and critical thinking.</a:t>
            </a:r>
            <a:endParaRPr lang="en-US" sz="950" dirty="0"/>
          </a:p>
        </p:txBody>
      </p:sp>
      <p:sp>
        <p:nvSpPr>
          <p:cNvPr id="4" name="Shape 2"/>
          <p:cNvSpPr/>
          <p:nvPr/>
        </p:nvSpPr>
        <p:spPr>
          <a:xfrm>
            <a:off x="594360" y="1051560"/>
            <a:ext cx="10927080" cy="0"/>
          </a:xfrm>
          <a:prstGeom prst="line">
            <a:avLst/>
          </a:prstGeom>
          <a:noFill/>
          <a:ln w="12700">
            <a:solidFill>
              <a:srgbClr val="D8DEE9"/>
            </a:solidFill>
            <a:prstDash val="solid"/>
          </a:ln>
        </p:spPr>
      </p:sp>
      <p:sp>
        <p:nvSpPr>
          <p:cNvPr id="5" name="Text 3"/>
          <p:cNvSpPr/>
          <p:nvPr/>
        </p:nvSpPr>
        <p:spPr>
          <a:xfrm>
            <a:off x="5074920" y="1207008"/>
            <a:ext cx="2011680" cy="658368"/>
          </a:xfrm>
          <a:prstGeom prst="rect">
            <a:avLst/>
          </a:prstGeom>
          <a:solidFill>
            <a:srgbClr val="EEF4FF"/>
          </a:solidFill>
          <a:ln w="15240">
            <a:solidFill>
              <a:srgbClr val="2E6BFF"/>
            </a:solidFill>
          </a:ln>
        </p:spPr>
        <p:txBody>
          <a:bodyPr wrap="square" rtlCol="0" anchor="ctr">
            <a:normAutofit/>
          </a:bodyPr>
          <a:lstStyle/>
          <a:p>
            <a:pPr indent="0" marL="0">
              <a:buNone/>
            </a:pPr>
            <a:r>
              <a:rPr lang="en-US" sz="1250" b="1" dirty="0">
                <a:solidFill>
                  <a:srgbClr val="162033"/>
                </a:solidFill>
                <a:latin typeface="Aptos" pitchFamily="34" charset="0"/>
                <a:ea typeface="Aptos" pitchFamily="34" charset="-122"/>
                <a:cs typeface="Aptos" pitchFamily="34" charset="-120"/>
              </a:rPr>
              <a:t>Predict</a:t>
            </a:r>
            <a:endParaRPr lang="en-US" sz="1250" dirty="0"/>
          </a:p>
          <a:p>
            <a:pPr indent="0" marL="0">
              <a:buNone/>
            </a:pPr>
            <a:r>
              <a:rPr lang="en-US" sz="1250" dirty="0">
                <a:solidFill>
                  <a:srgbClr val="162033"/>
                </a:solidFill>
                <a:latin typeface="Aptos" pitchFamily="34" charset="0"/>
                <a:ea typeface="Aptos" pitchFamily="34" charset="-122"/>
                <a:cs typeface="Aptos" pitchFamily="34" charset="-120"/>
              </a:rPr>
              <a:t>before asking</a:t>
            </a:r>
            <a:endParaRPr lang="en-US" sz="1250" dirty="0"/>
          </a:p>
        </p:txBody>
      </p:sp>
      <p:sp>
        <p:nvSpPr>
          <p:cNvPr id="6" name="Text 4"/>
          <p:cNvSpPr/>
          <p:nvPr/>
        </p:nvSpPr>
        <p:spPr>
          <a:xfrm>
            <a:off x="8553504" y="2186352"/>
            <a:ext cx="2011680" cy="658368"/>
          </a:xfrm>
          <a:prstGeom prst="rect">
            <a:avLst/>
          </a:prstGeom>
          <a:solidFill>
            <a:srgbClr val="ECFBFA"/>
          </a:solidFill>
          <a:ln w="15240">
            <a:solidFill>
              <a:srgbClr val="00A9A5"/>
            </a:solidFill>
          </a:ln>
        </p:spPr>
        <p:txBody>
          <a:bodyPr wrap="square" rtlCol="0" anchor="ctr">
            <a:normAutofit/>
          </a:bodyPr>
          <a:lstStyle/>
          <a:p>
            <a:pPr indent="0" marL="0">
              <a:buNone/>
            </a:pPr>
            <a:r>
              <a:rPr lang="en-US" sz="1250" b="1" dirty="0">
                <a:solidFill>
                  <a:srgbClr val="162033"/>
                </a:solidFill>
                <a:latin typeface="Aptos" pitchFamily="34" charset="0"/>
                <a:ea typeface="Aptos" pitchFamily="34" charset="-122"/>
                <a:cs typeface="Aptos" pitchFamily="34" charset="-120"/>
              </a:rPr>
              <a:t>Ask AI</a:t>
            </a:r>
            <a:endParaRPr lang="en-US" sz="1250" dirty="0"/>
          </a:p>
          <a:p>
            <a:pPr indent="0" marL="0">
              <a:buNone/>
            </a:pPr>
            <a:r>
              <a:rPr lang="en-US" sz="1250" dirty="0">
                <a:solidFill>
                  <a:srgbClr val="162033"/>
                </a:solidFill>
                <a:latin typeface="Aptos" pitchFamily="34" charset="0"/>
                <a:ea typeface="Aptos" pitchFamily="34" charset="-122"/>
                <a:cs typeface="Aptos" pitchFamily="34" charset="-120"/>
              </a:rPr>
              <a:t>accelerate work</a:t>
            </a:r>
            <a:endParaRPr lang="en-US" sz="1250" dirty="0"/>
          </a:p>
        </p:txBody>
      </p:sp>
      <p:sp>
        <p:nvSpPr>
          <p:cNvPr id="7" name="Text 5"/>
          <p:cNvSpPr/>
          <p:nvPr/>
        </p:nvSpPr>
        <p:spPr>
          <a:xfrm>
            <a:off x="7224803" y="3770964"/>
            <a:ext cx="2011680" cy="658368"/>
          </a:xfrm>
          <a:prstGeom prst="rect">
            <a:avLst/>
          </a:prstGeom>
          <a:solidFill>
            <a:srgbClr val="F4F0FF"/>
          </a:solidFill>
          <a:ln w="15240">
            <a:solidFill>
              <a:srgbClr val="7B61FF"/>
            </a:solidFill>
          </a:ln>
        </p:spPr>
        <p:txBody>
          <a:bodyPr wrap="square" rtlCol="0" anchor="ctr">
            <a:normAutofit/>
          </a:bodyPr>
          <a:lstStyle/>
          <a:p>
            <a:pPr indent="0" marL="0">
              <a:buNone/>
            </a:pPr>
            <a:r>
              <a:rPr lang="en-US" sz="1250" b="1" dirty="0">
                <a:solidFill>
                  <a:srgbClr val="162033"/>
                </a:solidFill>
                <a:latin typeface="Aptos" pitchFamily="34" charset="0"/>
                <a:ea typeface="Aptos" pitchFamily="34" charset="-122"/>
                <a:cs typeface="Aptos" pitchFamily="34" charset="-120"/>
              </a:rPr>
              <a:t>Inspect</a:t>
            </a:r>
            <a:endParaRPr lang="en-US" sz="1250" dirty="0"/>
          </a:p>
          <a:p>
            <a:pPr indent="0" marL="0">
              <a:buNone/>
            </a:pPr>
            <a:r>
              <a:rPr lang="en-US" sz="1250" dirty="0">
                <a:solidFill>
                  <a:srgbClr val="162033"/>
                </a:solidFill>
                <a:latin typeface="Aptos" pitchFamily="34" charset="0"/>
                <a:ea typeface="Aptos" pitchFamily="34" charset="-122"/>
                <a:cs typeface="Aptos" pitchFamily="34" charset="-120"/>
              </a:rPr>
              <a:t>failures and edge cases</a:t>
            </a:r>
            <a:endParaRPr lang="en-US" sz="1250" dirty="0"/>
          </a:p>
        </p:txBody>
      </p:sp>
      <p:sp>
        <p:nvSpPr>
          <p:cNvPr id="8" name="Text 6"/>
          <p:cNvSpPr/>
          <p:nvPr/>
        </p:nvSpPr>
        <p:spPr>
          <a:xfrm>
            <a:off x="2925037" y="3770964"/>
            <a:ext cx="2011680" cy="658368"/>
          </a:xfrm>
          <a:prstGeom prst="rect">
            <a:avLst/>
          </a:prstGeom>
          <a:solidFill>
            <a:srgbClr val="FFF7E8"/>
          </a:solidFill>
          <a:ln w="15240">
            <a:solidFill>
              <a:srgbClr val="F5A623"/>
            </a:solidFill>
          </a:ln>
        </p:spPr>
        <p:txBody>
          <a:bodyPr wrap="square" rtlCol="0" anchor="ctr">
            <a:normAutofit/>
          </a:bodyPr>
          <a:lstStyle/>
          <a:p>
            <a:pPr indent="0" marL="0">
              <a:buNone/>
            </a:pPr>
            <a:r>
              <a:rPr lang="en-US" sz="1250" b="1" dirty="0">
                <a:solidFill>
                  <a:srgbClr val="162033"/>
                </a:solidFill>
                <a:latin typeface="Aptos" pitchFamily="34" charset="0"/>
                <a:ea typeface="Aptos" pitchFamily="34" charset="-122"/>
                <a:cs typeface="Aptos" pitchFamily="34" charset="-120"/>
              </a:rPr>
              <a:t>Explain</a:t>
            </a:r>
            <a:endParaRPr lang="en-US" sz="1250" dirty="0"/>
          </a:p>
          <a:p>
            <a:pPr indent="0" marL="0">
              <a:buNone/>
            </a:pPr>
            <a:r>
              <a:rPr lang="en-US" sz="1250" dirty="0">
                <a:solidFill>
                  <a:srgbClr val="162033"/>
                </a:solidFill>
                <a:latin typeface="Aptos" pitchFamily="34" charset="0"/>
                <a:ea typeface="Aptos" pitchFamily="34" charset="-122"/>
                <a:cs typeface="Aptos" pitchFamily="34" charset="-120"/>
              </a:rPr>
              <a:t>from first principles</a:t>
            </a:r>
            <a:endParaRPr lang="en-US" sz="1250" dirty="0"/>
          </a:p>
        </p:txBody>
      </p:sp>
      <p:sp>
        <p:nvSpPr>
          <p:cNvPr id="9" name="Text 7"/>
          <p:cNvSpPr/>
          <p:nvPr/>
        </p:nvSpPr>
        <p:spPr>
          <a:xfrm>
            <a:off x="1596336" y="2186352"/>
            <a:ext cx="2011680" cy="658368"/>
          </a:xfrm>
          <a:prstGeom prst="rect">
            <a:avLst/>
          </a:prstGeom>
          <a:solidFill>
            <a:srgbClr val="FFF0F6"/>
          </a:solidFill>
          <a:ln w="15240">
            <a:solidFill>
              <a:srgbClr val="E55288"/>
            </a:solidFill>
          </a:ln>
        </p:spPr>
        <p:txBody>
          <a:bodyPr wrap="square" rtlCol="0" anchor="ctr">
            <a:normAutofit/>
          </a:bodyPr>
          <a:lstStyle/>
          <a:p>
            <a:pPr indent="0" marL="0">
              <a:buNone/>
            </a:pPr>
            <a:r>
              <a:rPr lang="en-US" sz="1250" b="1" dirty="0">
                <a:solidFill>
                  <a:srgbClr val="162033"/>
                </a:solidFill>
                <a:latin typeface="Aptos" pitchFamily="34" charset="0"/>
                <a:ea typeface="Aptos" pitchFamily="34" charset="-122"/>
                <a:cs typeface="Aptos" pitchFamily="34" charset="-120"/>
              </a:rPr>
              <a:t>Update</a:t>
            </a:r>
            <a:endParaRPr lang="en-US" sz="1250" dirty="0"/>
          </a:p>
          <a:p>
            <a:pPr indent="0" marL="0">
              <a:buNone/>
            </a:pPr>
            <a:r>
              <a:rPr lang="en-US" sz="1250" dirty="0">
                <a:solidFill>
                  <a:srgbClr val="162033"/>
                </a:solidFill>
                <a:latin typeface="Aptos" pitchFamily="34" charset="0"/>
                <a:ea typeface="Aptos" pitchFamily="34" charset="-122"/>
                <a:cs typeface="Aptos" pitchFamily="34" charset="-120"/>
              </a:rPr>
              <a:t>mental model</a:t>
            </a:r>
            <a:endParaRPr lang="en-US" sz="1250" dirty="0"/>
          </a:p>
        </p:txBody>
      </p:sp>
      <p:sp>
        <p:nvSpPr>
          <p:cNvPr id="10" name="Text 8"/>
          <p:cNvSpPr/>
          <p:nvPr/>
        </p:nvSpPr>
        <p:spPr>
          <a:xfrm>
            <a:off x="4892040" y="2743200"/>
            <a:ext cx="2377440" cy="347472"/>
          </a:xfrm>
          <a:prstGeom prst="rect">
            <a:avLst/>
          </a:prstGeom>
          <a:noFill/>
          <a:ln/>
        </p:spPr>
        <p:txBody>
          <a:bodyPr wrap="square" lIns="0" tIns="0" rIns="0" bIns="0" rtlCol="0" anchor="ctr"/>
          <a:lstStyle/>
          <a:p>
            <a:pPr algn="ctr" indent="0" marL="0">
              <a:buNone/>
            </a:pPr>
            <a:r>
              <a:rPr lang="en-US" sz="1600" b="1" dirty="0">
                <a:solidFill>
                  <a:srgbClr val="2E6BFF"/>
                </a:solidFill>
              </a:rPr>
              <a:t>continuous loop</a:t>
            </a:r>
            <a:endParaRPr lang="en-US" sz="1600" dirty="0"/>
          </a:p>
        </p:txBody>
      </p:sp>
      <p:sp>
        <p:nvSpPr>
          <p:cNvPr id="11" name="Text 9"/>
          <p:cNvSpPr/>
          <p:nvPr/>
        </p:nvSpPr>
        <p:spPr>
          <a:xfrm>
            <a:off x="960120" y="5239512"/>
            <a:ext cx="1600200" cy="274320"/>
          </a:xfrm>
          <a:prstGeom prst="rect">
            <a:avLst/>
          </a:prstGeom>
          <a:noFill/>
          <a:ln/>
        </p:spPr>
        <p:txBody>
          <a:bodyPr wrap="square" lIns="0" tIns="0" rIns="0" bIns="0" rtlCol="0" anchor="ctr"/>
          <a:lstStyle/>
          <a:p>
            <a:pPr indent="0" marL="0">
              <a:buNone/>
            </a:pPr>
            <a:r>
              <a:rPr lang="en-US" sz="1700" dirty="0">
                <a:solidFill>
                  <a:srgbClr val="5D6B82"/>
                </a:solidFill>
              </a:rPr>
              <a:t>Train juniors for</a:t>
            </a:r>
            <a:endParaRPr lang="en-US" sz="1700" dirty="0"/>
          </a:p>
        </p:txBody>
      </p:sp>
      <p:sp>
        <p:nvSpPr>
          <p:cNvPr id="12" name="Text 10"/>
          <p:cNvSpPr/>
          <p:nvPr/>
        </p:nvSpPr>
        <p:spPr>
          <a:xfrm>
            <a:off x="3063240" y="5212080"/>
            <a:ext cx="5669280" cy="310896"/>
          </a:xfrm>
          <a:prstGeom prst="rect">
            <a:avLst/>
          </a:prstGeom>
          <a:noFill/>
          <a:ln/>
        </p:spPr>
        <p:txBody>
          <a:bodyPr wrap="square" lIns="0" tIns="0" rIns="0" bIns="0" rtlCol="0" anchor="ctr"/>
          <a:lstStyle/>
          <a:p>
            <a:pPr indent="0" marL="0">
              <a:buNone/>
            </a:pPr>
            <a:r>
              <a:rPr lang="en-US" sz="2200" b="1" dirty="0">
                <a:solidFill>
                  <a:srgbClr val="2E6BFF"/>
                </a:solidFill>
              </a:rPr>
              <a:t>problem → loop → evidence → decision</a:t>
            </a:r>
            <a:endParaRPr lang="en-US" sz="2200" dirty="0"/>
          </a:p>
        </p:txBody>
      </p:sp>
      <p:sp>
        <p:nvSpPr>
          <p:cNvPr id="13" name="Text 11"/>
          <p:cNvSpPr/>
          <p:nvPr/>
        </p:nvSpPr>
        <p:spPr>
          <a:xfrm>
            <a:off x="8823960" y="5239512"/>
            <a:ext cx="1554480" cy="274320"/>
          </a:xfrm>
          <a:prstGeom prst="rect">
            <a:avLst/>
          </a:prstGeom>
          <a:noFill/>
          <a:ln/>
        </p:spPr>
        <p:txBody>
          <a:bodyPr wrap="square" lIns="0" tIns="0" rIns="0" bIns="0" rtlCol="0" anchor="ctr"/>
          <a:lstStyle/>
          <a:p>
            <a:pPr indent="0" marL="0">
              <a:buNone/>
            </a:pPr>
            <a:r>
              <a:rPr lang="en-US" sz="1700" dirty="0">
                <a:solidFill>
                  <a:srgbClr val="5D6B82"/>
                </a:solidFill>
              </a:rPr>
              <a:t>ownership</a:t>
            </a:r>
            <a:endParaRPr lang="en-US" sz="1700" dirty="0"/>
          </a:p>
        </p:txBody>
      </p:sp>
      <p:sp>
        <p:nvSpPr>
          <p:cNvPr id="14" name="Text 12"/>
          <p:cNvSpPr/>
          <p:nvPr/>
        </p:nvSpPr>
        <p:spPr>
          <a:xfrm>
            <a:off x="2103120" y="5733288"/>
            <a:ext cx="8046720" cy="320040"/>
          </a:xfrm>
          <a:prstGeom prst="rect">
            <a:avLst/>
          </a:prstGeom>
          <a:noFill/>
          <a:ln/>
        </p:spPr>
        <p:txBody>
          <a:bodyPr wrap="square" lIns="0" tIns="0" rIns="0" bIns="0" rtlCol="0" anchor="ctr"/>
          <a:lstStyle/>
          <a:p>
            <a:pPr algn="ctr" indent="0" marL="0">
              <a:buNone/>
            </a:pPr>
            <a:r>
              <a:rPr lang="en-US" sz="1700" b="1" dirty="0">
                <a:solidFill>
                  <a:srgbClr val="162033"/>
                </a:solidFill>
              </a:rPr>
              <a:t>not primarily experiments run, code shipped, or papers implemented.</a:t>
            </a:r>
            <a:endParaRPr lang="en-US" sz="1700" dirty="0"/>
          </a:p>
        </p:txBody>
      </p:sp>
      <p:sp>
        <p:nvSpPr>
          <p:cNvPr id="15" name="Text 13"/>
          <p:cNvSpPr/>
          <p:nvPr/>
        </p:nvSpPr>
        <p:spPr>
          <a:xfrm>
            <a:off x="594360" y="6556248"/>
            <a:ext cx="4754880" cy="164592"/>
          </a:xfrm>
          <a:prstGeom prst="rect">
            <a:avLst/>
          </a:prstGeom>
          <a:noFill/>
          <a:ln/>
        </p:spPr>
        <p:txBody>
          <a:bodyPr wrap="square" lIns="0" tIns="0" rIns="0" bIns="0" rtlCol="0" anchor="ctr"/>
          <a:lstStyle/>
          <a:p>
            <a:pPr indent="0" marL="0">
              <a:buNone/>
            </a:pPr>
            <a:r>
              <a:rPr lang="en-US" sz="750" dirty="0">
                <a:solidFill>
                  <a:srgbClr val="8A98AA"/>
                </a:solidFill>
              </a:rPr>
              <a:t>Future Engineer &amp; Applied Researcher</a:t>
            </a:r>
            <a:endParaRPr lang="en-US" sz="750" dirty="0"/>
          </a:p>
        </p:txBody>
      </p:sp>
      <p:sp>
        <p:nvSpPr>
          <p:cNvPr id="16" name="Text 14"/>
          <p:cNvSpPr/>
          <p:nvPr/>
        </p:nvSpPr>
        <p:spPr>
          <a:xfrm>
            <a:off x="11201400" y="6556248"/>
            <a:ext cx="384048" cy="164592"/>
          </a:xfrm>
          <a:prstGeom prst="rect">
            <a:avLst/>
          </a:prstGeom>
          <a:noFill/>
          <a:ln/>
        </p:spPr>
        <p:txBody>
          <a:bodyPr wrap="square" lIns="0" tIns="0" rIns="0" bIns="0" rtlCol="0" anchor="ctr"/>
          <a:lstStyle/>
          <a:p>
            <a:pPr algn="r" indent="0" marL="0">
              <a:buNone/>
            </a:pPr>
            <a:r>
              <a:rPr lang="en-US" sz="750" dirty="0">
                <a:solidFill>
                  <a:srgbClr val="8A98AA"/>
                </a:solidFill>
              </a:rPr>
              <a:t>08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Engineer &amp; Applied Researcher</dc:title>
  <dc:subject>Future software engineer and applied researcher capabilities</dc:subject>
  <dc:creator>OpenAI</dc:creator>
  <cp:lastModifiedBy>OpenAI</cp:lastModifiedBy>
  <cp:revision>1</cp:revision>
  <dcterms:created xsi:type="dcterms:W3CDTF">2026-08-16T20:12:57Z</dcterms:created>
  <dcterms:modified xsi:type="dcterms:W3CDTF">2026-08-16T20:12:57Z</dcterms:modified>
</cp:coreProperties>
</file>